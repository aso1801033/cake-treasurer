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67" r:id="rId5"/>
    <p:sldId id="268" r:id="rId6"/>
    <p:sldId id="269" r:id="rId7"/>
    <p:sldId id="270" r:id="rId8"/>
    <p:sldId id="271" r:id="rId9"/>
    <p:sldId id="273" r:id="rId10"/>
    <p:sldId id="274" r:id="rId11"/>
    <p:sldId id="275" r:id="rId12"/>
    <p:sldId id="276" r:id="rId13"/>
    <p:sldId id="277"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E53AC91-D846-473A-AF1F-7D4F902D347F}">
          <p14:sldIdLst>
            <p14:sldId id="267"/>
            <p14:sldId id="268"/>
            <p14:sldId id="269"/>
            <p14:sldId id="270"/>
            <p14:sldId id="271"/>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946A58-83F6-4E67-8CA2-CE9BCBF4A36C}" v="196" dt="2020-08-18T00:51:50.603"/>
    <p1510:client id="{62C44E9A-B3A0-4245-9A3D-99B977F39CF2}" v="12" dt="2020-08-17T04:47:27.486"/>
    <p1510:client id="{DEDEA115-A88D-43D3-A333-DB754F4C1789}" v="1" dt="2020-08-20T01:51:14.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065" autoAdjust="0"/>
  </p:normalViewPr>
  <p:slideViewPr>
    <p:cSldViewPr snapToGrid="0">
      <p:cViewPr varScale="1">
        <p:scale>
          <a:sx n="81" d="100"/>
          <a:sy n="81" d="100"/>
        </p:scale>
        <p:origin x="36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山口 文加" userId="S::1801033@s.asojuku.ac.jp::33518916-0041-4882-9b89-81dfef3c3983" providerId="AD" clId="Web-{62C44E9A-B3A0-4245-9A3D-99B977F39CF2}"/>
    <pc:docChg chg="modSld">
      <pc:chgData name="山口 文加" userId="S::1801033@s.asojuku.ac.jp::33518916-0041-4882-9b89-81dfef3c3983" providerId="AD" clId="Web-{62C44E9A-B3A0-4245-9A3D-99B977F39CF2}" dt="2020-08-17T04:47:27.486" v="11" actId="20577"/>
      <pc:docMkLst>
        <pc:docMk/>
      </pc:docMkLst>
      <pc:sldChg chg="modSp">
        <pc:chgData name="山口 文加" userId="S::1801033@s.asojuku.ac.jp::33518916-0041-4882-9b89-81dfef3c3983" providerId="AD" clId="Web-{62C44E9A-B3A0-4245-9A3D-99B977F39CF2}" dt="2020-08-17T04:47:27.486" v="10" actId="20577"/>
        <pc:sldMkLst>
          <pc:docMk/>
          <pc:sldMk cId="2383346228" sldId="273"/>
        </pc:sldMkLst>
        <pc:spChg chg="mod">
          <ac:chgData name="山口 文加" userId="S::1801033@s.asojuku.ac.jp::33518916-0041-4882-9b89-81dfef3c3983" providerId="AD" clId="Web-{62C44E9A-B3A0-4245-9A3D-99B977F39CF2}" dt="2020-08-17T04:47:27.486" v="10" actId="20577"/>
          <ac:spMkLst>
            <pc:docMk/>
            <pc:sldMk cId="2383346228" sldId="273"/>
            <ac:spMk id="25" creationId="{5AB74C14-C595-4DE0-A824-1B9F6D885EF3}"/>
          </ac:spMkLst>
        </pc:spChg>
      </pc:sldChg>
    </pc:docChg>
  </pc:docChgLst>
  <pc:docChgLst>
    <pc:chgData name="山口 文加" userId="S::1801033@s.asojuku.ac.jp::33518916-0041-4882-9b89-81dfef3c3983" providerId="AD" clId="Web-{DEDEA115-A88D-43D3-A333-DB754F4C1789}"/>
    <pc:docChg chg="delSld modSection">
      <pc:chgData name="山口 文加" userId="S::1801033@s.asojuku.ac.jp::33518916-0041-4882-9b89-81dfef3c3983" providerId="AD" clId="Web-{DEDEA115-A88D-43D3-A333-DB754F4C1789}" dt="2020-08-20T01:51:14.716" v="0"/>
      <pc:docMkLst>
        <pc:docMk/>
      </pc:docMkLst>
      <pc:sldChg chg="del">
        <pc:chgData name="山口 文加" userId="S::1801033@s.asojuku.ac.jp::33518916-0041-4882-9b89-81dfef3c3983" providerId="AD" clId="Web-{DEDEA115-A88D-43D3-A333-DB754F4C1789}" dt="2020-08-20T01:51:14.716" v="0"/>
        <pc:sldMkLst>
          <pc:docMk/>
          <pc:sldMk cId="614373505" sldId="272"/>
        </pc:sldMkLst>
      </pc:sldChg>
    </pc:docChg>
  </pc:docChgLst>
  <pc:docChgLst>
    <pc:chgData name="山口 文加" userId="S::1801033@s.asojuku.ac.jp::33518916-0041-4882-9b89-81dfef3c3983" providerId="AD" clId="Web-{38946A58-83F6-4E67-8CA2-CE9BCBF4A36C}"/>
    <pc:docChg chg="modSld">
      <pc:chgData name="山口 文加" userId="S::1801033@s.asojuku.ac.jp::33518916-0041-4882-9b89-81dfef3c3983" providerId="AD" clId="Web-{38946A58-83F6-4E67-8CA2-CE9BCBF4A36C}" dt="2020-08-18T00:51:50.603" v="728" actId="1076"/>
      <pc:docMkLst>
        <pc:docMk/>
      </pc:docMkLst>
      <pc:sldChg chg="modNotes">
        <pc:chgData name="山口 文加" userId="S::1801033@s.asojuku.ac.jp::33518916-0041-4882-9b89-81dfef3c3983" providerId="AD" clId="Web-{38946A58-83F6-4E67-8CA2-CE9BCBF4A36C}" dt="2020-08-18T00:50:32.979" v="718"/>
        <pc:sldMkLst>
          <pc:docMk/>
          <pc:sldMk cId="1986005667" sldId="268"/>
        </pc:sldMkLst>
      </pc:sldChg>
      <pc:sldChg chg="modSp">
        <pc:chgData name="山口 文加" userId="S::1801033@s.asojuku.ac.jp::33518916-0041-4882-9b89-81dfef3c3983" providerId="AD" clId="Web-{38946A58-83F6-4E67-8CA2-CE9BCBF4A36C}" dt="2020-08-18T00:08:34.665" v="0" actId="688"/>
        <pc:sldMkLst>
          <pc:docMk/>
          <pc:sldMk cId="4013928477" sldId="269"/>
        </pc:sldMkLst>
        <pc:spChg chg="mod">
          <ac:chgData name="山口 文加" userId="S::1801033@s.asojuku.ac.jp::33518916-0041-4882-9b89-81dfef3c3983" providerId="AD" clId="Web-{38946A58-83F6-4E67-8CA2-CE9BCBF4A36C}" dt="2020-08-18T00:08:34.665" v="0" actId="688"/>
          <ac:spMkLst>
            <pc:docMk/>
            <pc:sldMk cId="4013928477" sldId="269"/>
            <ac:spMk id="6" creationId="{84A76937-7CA2-4D5D-9D0B-15FDB1BA7CC4}"/>
          </ac:spMkLst>
        </pc:spChg>
      </pc:sldChg>
      <pc:sldChg chg="modSp modNotes">
        <pc:chgData name="山口 文加" userId="S::1801033@s.asojuku.ac.jp::33518916-0041-4882-9b89-81dfef3c3983" providerId="AD" clId="Web-{38946A58-83F6-4E67-8CA2-CE9BCBF4A36C}" dt="2020-08-18T00:11:38.179" v="20" actId="20577"/>
        <pc:sldMkLst>
          <pc:docMk/>
          <pc:sldMk cId="654448116" sldId="270"/>
        </pc:sldMkLst>
        <pc:spChg chg="mod">
          <ac:chgData name="山口 文加" userId="S::1801033@s.asojuku.ac.jp::33518916-0041-4882-9b89-81dfef3c3983" providerId="AD" clId="Web-{38946A58-83F6-4E67-8CA2-CE9BCBF4A36C}" dt="2020-08-18T00:11:38.179" v="20" actId="20577"/>
          <ac:spMkLst>
            <pc:docMk/>
            <pc:sldMk cId="654448116" sldId="270"/>
            <ac:spMk id="3" creationId="{5A672911-B18A-4122-8B63-C97CC0561B03}"/>
          </ac:spMkLst>
        </pc:spChg>
      </pc:sldChg>
      <pc:sldChg chg="modSp modNotes">
        <pc:chgData name="山口 文加" userId="S::1801033@s.asojuku.ac.jp::33518916-0041-4882-9b89-81dfef3c3983" providerId="AD" clId="Web-{38946A58-83F6-4E67-8CA2-CE9BCBF4A36C}" dt="2020-08-18T00:51:50.603" v="728" actId="1076"/>
        <pc:sldMkLst>
          <pc:docMk/>
          <pc:sldMk cId="1036741767" sldId="271"/>
        </pc:sldMkLst>
        <pc:spChg chg="mod">
          <ac:chgData name="山口 文加" userId="S::1801033@s.asojuku.ac.jp::33518916-0041-4882-9b89-81dfef3c3983" providerId="AD" clId="Web-{38946A58-83F6-4E67-8CA2-CE9BCBF4A36C}" dt="2020-08-18T00:51:50.603" v="728" actId="1076"/>
          <ac:spMkLst>
            <pc:docMk/>
            <pc:sldMk cId="1036741767" sldId="271"/>
            <ac:spMk id="5" creationId="{BEFF3832-0430-488F-8BAC-B9809384A19C}"/>
          </ac:spMkLst>
        </pc:spChg>
      </pc:sldChg>
      <pc:sldChg chg="modNotes">
        <pc:chgData name="山口 文加" userId="S::1801033@s.asojuku.ac.jp::33518916-0041-4882-9b89-81dfef3c3983" providerId="AD" clId="Web-{38946A58-83F6-4E67-8CA2-CE9BCBF4A36C}" dt="2020-08-18T00:20:06.692" v="187"/>
        <pc:sldMkLst>
          <pc:docMk/>
          <pc:sldMk cId="2383346228" sldId="273"/>
        </pc:sldMkLst>
      </pc:sldChg>
      <pc:sldChg chg="modNotes">
        <pc:chgData name="山口 文加" userId="S::1801033@s.asojuku.ac.jp::33518916-0041-4882-9b89-81dfef3c3983" providerId="AD" clId="Web-{38946A58-83F6-4E67-8CA2-CE9BCBF4A36C}" dt="2020-08-18T00:21:55.207" v="194"/>
        <pc:sldMkLst>
          <pc:docMk/>
          <pc:sldMk cId="683103669" sldId="274"/>
        </pc:sldMkLst>
      </pc:sldChg>
      <pc:sldChg chg="modSp modNotes">
        <pc:chgData name="山口 文加" userId="S::1801033@s.asojuku.ac.jp::33518916-0041-4882-9b89-81dfef3c3983" providerId="AD" clId="Web-{38946A58-83F6-4E67-8CA2-CE9BCBF4A36C}" dt="2020-08-18T00:36:17.890" v="475"/>
        <pc:sldMkLst>
          <pc:docMk/>
          <pc:sldMk cId="3427737051" sldId="275"/>
        </pc:sldMkLst>
        <pc:spChg chg="mod">
          <ac:chgData name="山口 文加" userId="S::1801033@s.asojuku.ac.jp::33518916-0041-4882-9b89-81dfef3c3983" providerId="AD" clId="Web-{38946A58-83F6-4E67-8CA2-CE9BCBF4A36C}" dt="2020-08-18T00:35:47.546" v="471" actId="20577"/>
          <ac:spMkLst>
            <pc:docMk/>
            <pc:sldMk cId="3427737051" sldId="275"/>
            <ac:spMk id="2" creationId="{E5A99874-CD90-43C4-B479-8B01FBD1639B}"/>
          </ac:spMkLst>
        </pc:spChg>
      </pc:sldChg>
      <pc:sldChg chg="modSp modNotes">
        <pc:chgData name="山口 文加" userId="S::1801033@s.asojuku.ac.jp::33518916-0041-4882-9b89-81dfef3c3983" providerId="AD" clId="Web-{38946A58-83F6-4E67-8CA2-CE9BCBF4A36C}" dt="2020-08-18T00:49:52.401" v="714"/>
        <pc:sldMkLst>
          <pc:docMk/>
          <pc:sldMk cId="3435611388" sldId="276"/>
        </pc:sldMkLst>
        <pc:spChg chg="mod">
          <ac:chgData name="山口 文加" userId="S::1801033@s.asojuku.ac.jp::33518916-0041-4882-9b89-81dfef3c3983" providerId="AD" clId="Web-{38946A58-83F6-4E67-8CA2-CE9BCBF4A36C}" dt="2020-08-18T00:48:59.682" v="705" actId="20577"/>
          <ac:spMkLst>
            <pc:docMk/>
            <pc:sldMk cId="3435611388" sldId="276"/>
            <ac:spMk id="3" creationId="{164A2AE4-02E5-445C-9B89-786707DA4288}"/>
          </ac:spMkLst>
        </pc:spChg>
      </pc:sldChg>
      <pc:sldChg chg="modNotes">
        <pc:chgData name="山口 文加" userId="S::1801033@s.asojuku.ac.jp::33518916-0041-4882-9b89-81dfef3c3983" providerId="AD" clId="Web-{38946A58-83F6-4E67-8CA2-CE9BCBF4A36C}" dt="2020-08-18T00:50:24.104" v="717"/>
        <pc:sldMkLst>
          <pc:docMk/>
          <pc:sldMk cId="575548544"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7D8C60-7F7F-4B94-88E7-96EF93BD506F}" type="datetimeFigureOut">
              <a:rPr kumimoji="1" lang="en-US" altLang="ja-JP"/>
              <a:t>8/19/2020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5DED0-3A08-46E3-945B-1C93FD8D8A5F}" type="slidenum">
              <a:rPr kumimoji="1" lang="en-US" altLang="ja-JP"/>
              <a:t>‹#›</a:t>
            </a:fld>
            <a:endParaRPr kumimoji="1" lang="ja-JP" altLang="en-US"/>
          </a:p>
        </p:txBody>
      </p:sp>
    </p:spTree>
    <p:extLst>
      <p:ext uri="{BB962C8B-B14F-4D97-AF65-F5344CB8AC3E}">
        <p14:creationId xmlns:p14="http://schemas.microsoft.com/office/powerpoint/2010/main" val="342056419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latin typeface="Calibri"/>
                <a:ea typeface="游ゴシック"/>
                <a:cs typeface="Calibri"/>
              </a:rPr>
              <a:t>今からガトーショコラ班の発表を始めます。</a:t>
            </a:r>
          </a:p>
          <a:p>
            <a:endParaRPr lang="ja-JP" altLang="en-US">
              <a:latin typeface="Calibri"/>
              <a:ea typeface="游ゴシック"/>
              <a:cs typeface="Calibri"/>
            </a:endParaRPr>
          </a:p>
          <a:p>
            <a:endParaRPr lang="ja-JP" altLang="en-US">
              <a:latin typeface="Calibri"/>
              <a:ea typeface="游ゴシック"/>
              <a:cs typeface="Calibri"/>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1</a:t>
            </a:fld>
            <a:endParaRPr kumimoji="1" lang="ja-JP" altLang="en-US"/>
          </a:p>
        </p:txBody>
      </p:sp>
    </p:spTree>
    <p:extLst>
      <p:ext uri="{BB962C8B-B14F-4D97-AF65-F5344CB8AC3E}">
        <p14:creationId xmlns:p14="http://schemas.microsoft.com/office/powerpoint/2010/main" val="39549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err="1">
                <a:latin typeface="Calibri"/>
                <a:ea typeface="游ゴシック"/>
                <a:cs typeface="Calibri"/>
              </a:rPr>
              <a:t>みなさんはケーキ屋の店員さんが全商品の値段を覚えていて、すごいな～と思ったことはありませんか</a:t>
            </a:r>
            <a:r>
              <a:rPr lang="en-US" altLang="ja-JP" dirty="0">
                <a:latin typeface="Calibri"/>
                <a:ea typeface="游ゴシック"/>
                <a:cs typeface="Calibri"/>
              </a:rPr>
              <a:t>？</a:t>
            </a: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2</a:t>
            </a:fld>
            <a:endParaRPr kumimoji="1" lang="ja-JP" altLang="en-US"/>
          </a:p>
        </p:txBody>
      </p:sp>
    </p:spTree>
    <p:extLst>
      <p:ext uri="{BB962C8B-B14F-4D97-AF65-F5344CB8AC3E}">
        <p14:creationId xmlns:p14="http://schemas.microsoft.com/office/powerpoint/2010/main" val="4172673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err="1">
                <a:latin typeface="Calibri"/>
                <a:ea typeface="游ゴシック"/>
                <a:cs typeface="Calibri"/>
              </a:rPr>
              <a:t>しかし、知恵袋などを見てみると打ち間違いをしてる店員が多くいます</a:t>
            </a:r>
            <a:r>
              <a:rPr lang="en-US" altLang="ja-JP" dirty="0">
                <a:latin typeface="Calibri"/>
                <a:ea typeface="游ゴシック"/>
                <a:cs typeface="Calibri"/>
              </a:rPr>
              <a:t>。</a:t>
            </a:r>
          </a:p>
          <a:p>
            <a:endParaRPr lang="en-US" altLang="ja-JP" dirty="0">
              <a:latin typeface="Calibri"/>
              <a:ea typeface="游ゴシック"/>
              <a:cs typeface="Calibri"/>
            </a:endParaRPr>
          </a:p>
          <a:p>
            <a:r>
              <a:rPr lang="en-US" altLang="ja-JP" dirty="0">
                <a:latin typeface="Calibri"/>
                <a:ea typeface="游ゴシック"/>
                <a:cs typeface="Calibri"/>
              </a:rPr>
              <a:t>--- </a:t>
            </a:r>
            <a:r>
              <a:rPr lang="en-US" altLang="ja-JP" dirty="0" err="1">
                <a:latin typeface="Calibri"/>
                <a:ea typeface="游ゴシック"/>
                <a:cs typeface="Calibri"/>
              </a:rPr>
              <a:t>変更案</a:t>
            </a:r>
            <a:r>
              <a:rPr lang="en-US" altLang="ja-JP" dirty="0">
                <a:latin typeface="Calibri"/>
                <a:ea typeface="游ゴシック"/>
                <a:cs typeface="Calibri"/>
              </a:rPr>
              <a:t> ---</a:t>
            </a:r>
          </a:p>
          <a:p>
            <a:r>
              <a:rPr lang="ja-JP" altLang="en-US" dirty="0">
                <a:latin typeface="Calibri"/>
                <a:ea typeface="游ゴシック"/>
                <a:cs typeface="Calibri"/>
              </a:rPr>
              <a:t>しかし、そう思う裏側では、</a:t>
            </a:r>
            <a:endParaRPr lang="en-US" altLang="ja-JP" dirty="0">
              <a:latin typeface="Calibri"/>
              <a:ea typeface="游ゴシック"/>
              <a:cs typeface="Calibri"/>
            </a:endParaRPr>
          </a:p>
          <a:p>
            <a:r>
              <a:rPr lang="ja-JP" altLang="en-US" dirty="0">
                <a:latin typeface="Calibri"/>
                <a:ea typeface="游ゴシック"/>
                <a:cs typeface="Calibri"/>
              </a:rPr>
              <a:t>店員さんのミスでお金を多く支払った、バイトに入った直後のレジでミスをした</a:t>
            </a:r>
            <a:endParaRPr lang="en-US" altLang="ja-JP" dirty="0">
              <a:latin typeface="Calibri"/>
              <a:ea typeface="游ゴシック"/>
              <a:cs typeface="Calibri"/>
            </a:endParaRPr>
          </a:p>
          <a:p>
            <a:r>
              <a:rPr lang="ja-JP" altLang="en-US" dirty="0">
                <a:latin typeface="Calibri"/>
                <a:ea typeface="游ゴシック"/>
                <a:cs typeface="Calibri"/>
              </a:rPr>
              <a:t>などミスが起きているのも事実です。</a:t>
            </a:r>
            <a:endParaRPr lang="en-US" altLang="ja-JP" dirty="0">
              <a:latin typeface="Calibri"/>
              <a:ea typeface="游ゴシック"/>
              <a:cs typeface="Calibri"/>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3</a:t>
            </a:fld>
            <a:endParaRPr kumimoji="1" lang="ja-JP" altLang="en-US"/>
          </a:p>
        </p:txBody>
      </p:sp>
    </p:spTree>
    <p:extLst>
      <p:ext uri="{BB962C8B-B14F-4D97-AF65-F5344CB8AC3E}">
        <p14:creationId xmlns:p14="http://schemas.microsoft.com/office/powerpoint/2010/main" val="3486976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dirty="0"/>
              <a:t>そこで、私達が開発したのはカメラを使ってケーキの単価・個数を判断し、合計金額を計算してくれるシステムです。</a:t>
            </a:r>
            <a:endParaRPr lang="en-US" altLang="ja-JP" dirty="0"/>
          </a:p>
          <a:p>
            <a:endParaRPr lang="ja-JP" dirty="0">
              <a:ea typeface="游ゴシック"/>
            </a:endParaRPr>
          </a:p>
          <a:p>
            <a:endParaRPr lang="en-US" altLang="ja-JP" dirty="0"/>
          </a:p>
          <a:p>
            <a:r>
              <a:rPr lang="en-US" altLang="ja-JP" dirty="0">
                <a:ea typeface="游ゴシック"/>
              </a:rPr>
              <a:t>--- </a:t>
            </a:r>
            <a:r>
              <a:rPr lang="ja-JP" altLang="en-US">
                <a:ea typeface="游ゴシック"/>
              </a:rPr>
              <a:t>変更案</a:t>
            </a:r>
            <a:r>
              <a:rPr lang="en-US" altLang="ja-JP" dirty="0">
                <a:ea typeface="游ゴシック"/>
              </a:rPr>
              <a:t> ---</a:t>
            </a:r>
          </a:p>
          <a:p>
            <a:r>
              <a:rPr lang="en-US" dirty="0" err="1"/>
              <a:t>そこで、私たちが開発したWebアプリケーションは、ケーキ屋さんの会計計算を引き受けるアプリケーションです</a:t>
            </a:r>
            <a:r>
              <a:rPr lang="en-US" dirty="0"/>
              <a:t>。</a:t>
            </a: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4</a:t>
            </a:fld>
            <a:endParaRPr kumimoji="1" lang="ja-JP" altLang="en-US"/>
          </a:p>
        </p:txBody>
      </p:sp>
    </p:spTree>
    <p:extLst>
      <p:ext uri="{BB962C8B-B14F-4D97-AF65-F5344CB8AC3E}">
        <p14:creationId xmlns:p14="http://schemas.microsoft.com/office/powerpoint/2010/main" val="2316412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ea typeface="游ゴシック"/>
              </a:rPr>
              <a:t>--- </a:t>
            </a:r>
            <a:r>
              <a:rPr lang="ja-JP">
                <a:ea typeface="游ゴシック"/>
              </a:rPr>
              <a:t>変更案</a:t>
            </a:r>
            <a:r>
              <a:rPr lang="en-US" altLang="ja-JP" dirty="0">
                <a:ea typeface="游ゴシック"/>
              </a:rPr>
              <a:t> ---</a:t>
            </a:r>
          </a:p>
          <a:p>
            <a:r>
              <a:rPr lang="en-US" dirty="0" err="1"/>
              <a:t>実装した機能は</a:t>
            </a:r>
            <a:r>
              <a:rPr lang="en-US" dirty="0"/>
              <a:t>、</a:t>
            </a:r>
            <a:endParaRPr lang="en-US">
              <a:ea typeface="游ゴシック"/>
            </a:endParaRPr>
          </a:p>
          <a:p>
            <a:r>
              <a:rPr lang="en-US" dirty="0"/>
              <a:t>①</a:t>
            </a:r>
            <a:r>
              <a:rPr lang="ja-JP" altLang="en-US">
                <a:ea typeface="游ゴシック"/>
              </a:rPr>
              <a:t>購入商品の種類・個数を画像認識で判定し、金額を計算</a:t>
            </a:r>
            <a:endParaRPr lang="ja-JP">
              <a:ea typeface="游ゴシック" panose="020B0400000000000000" pitchFamily="34" charset="-128"/>
            </a:endParaRPr>
          </a:p>
          <a:p>
            <a:r>
              <a:rPr lang="ja-JP" altLang="en-US">
                <a:ea typeface="游ゴシック"/>
              </a:rPr>
              <a:t>②</a:t>
            </a:r>
            <a:r>
              <a:rPr lang="ja-JP">
                <a:ea typeface="游ゴシック"/>
              </a:rPr>
              <a:t>販売商品の登録・変更・削除</a:t>
            </a:r>
          </a:p>
          <a:p>
            <a:r>
              <a:rPr lang="ja-JP" altLang="en-US">
                <a:ea typeface="游ゴシック"/>
              </a:rPr>
              <a:t>③</a:t>
            </a:r>
            <a:r>
              <a:rPr lang="ja-JP">
                <a:ea typeface="游ゴシック"/>
              </a:rPr>
              <a:t>期間・商品名・一押し食材など条件をしての売上検索</a:t>
            </a:r>
          </a:p>
          <a:p>
            <a:r>
              <a:rPr lang="ja-JP" altLang="en-US">
                <a:ea typeface="游ゴシック"/>
              </a:rPr>
              <a:t>の3つです。</a:t>
            </a:r>
            <a:endParaRPr lang="ja-JP" altLang="en-US" dirty="0">
              <a:ea typeface="游ゴシック"/>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5</a:t>
            </a:fld>
            <a:endParaRPr kumimoji="1" lang="ja-JP" altLang="en-US"/>
          </a:p>
        </p:txBody>
      </p:sp>
    </p:spTree>
    <p:extLst>
      <p:ext uri="{BB962C8B-B14F-4D97-AF65-F5344CB8AC3E}">
        <p14:creationId xmlns:p14="http://schemas.microsoft.com/office/powerpoint/2010/main" val="773945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latin typeface="Calibri"/>
                <a:ea typeface="游ゴシック"/>
                <a:cs typeface="Calibri"/>
              </a:rPr>
              <a:t>Webアプリケーションのシステム構成はAIサーバーに</a:t>
            </a:r>
            <a:r>
              <a:rPr lang="en-US" altLang="ja-JP" dirty="0">
                <a:ea typeface="游ゴシック"/>
              </a:rPr>
              <a:t>CustomVision</a:t>
            </a:r>
            <a:r>
              <a:rPr lang="ja-JP" altLang="en-US" dirty="0">
                <a:ea typeface="游ゴシック"/>
              </a:rPr>
              <a:t>を使用し、Wedサーバーにlaravel,html5,css3,php,SQLを使用しました。</a:t>
            </a:r>
            <a:endParaRPr lang="ja-JP">
              <a:ea typeface="游ゴシック"/>
            </a:endParaRPr>
          </a:p>
          <a:p>
            <a:endParaRPr lang="ja-JP" altLang="en-US" dirty="0">
              <a:ea typeface="游ゴシック"/>
            </a:endParaRPr>
          </a:p>
          <a:p>
            <a:r>
              <a:rPr lang="en-US" altLang="ja-JP" dirty="0"/>
              <a:t>--- </a:t>
            </a:r>
            <a:r>
              <a:rPr lang="ja-JP"/>
              <a:t>変更案</a:t>
            </a:r>
            <a:r>
              <a:rPr lang="en-US" altLang="ja-JP" dirty="0"/>
              <a:t> ---</a:t>
            </a:r>
            <a:endParaRPr lang="ja-JP" altLang="en-US" dirty="0"/>
          </a:p>
          <a:p>
            <a:r>
              <a:rPr lang="en-US" dirty="0" err="1"/>
              <a:t>今回のシステム構成は、こんな感じです</a:t>
            </a:r>
            <a:r>
              <a:rPr lang="en-US" dirty="0"/>
              <a:t>。</a:t>
            </a:r>
            <a:endParaRPr lang="en-US" dirty="0">
              <a:ea typeface="游ゴシック"/>
            </a:endParaRPr>
          </a:p>
          <a:p>
            <a:r>
              <a:rPr lang="en-US" dirty="0">
                <a:ea typeface="游ゴシック"/>
              </a:rPr>
              <a:t>Azure</a:t>
            </a:r>
            <a:r>
              <a:rPr lang="ja-JP" altLang="en-US">
                <a:ea typeface="游ゴシック"/>
              </a:rPr>
              <a:t>の</a:t>
            </a:r>
            <a:r>
              <a:rPr lang="en-US" dirty="0">
                <a:ea typeface="游ゴシック"/>
              </a:rPr>
              <a:t>VM</a:t>
            </a:r>
            <a:r>
              <a:rPr lang="ja-JP" altLang="en-US">
                <a:ea typeface="游ゴシック"/>
              </a:rPr>
              <a:t>上にWebサーバを仮想構築。</a:t>
            </a:r>
            <a:endParaRPr lang="ja-JP" dirty="0">
              <a:ea typeface="游ゴシック" panose="020B0400000000000000" pitchFamily="34" charset="-128"/>
            </a:endParaRPr>
          </a:p>
          <a:p>
            <a:r>
              <a:rPr lang="ja-JP" altLang="en-US">
                <a:ea typeface="游ゴシック"/>
              </a:rPr>
              <a:t>画像認識にはAIサーバーの</a:t>
            </a:r>
            <a:r>
              <a:rPr lang="en-US" altLang="ja-JP" dirty="0" err="1">
                <a:ea typeface="游ゴシック"/>
              </a:rPr>
              <a:t>CustomVision</a:t>
            </a:r>
            <a:r>
              <a:rPr lang="ja-JP">
                <a:ea typeface="游ゴシック"/>
              </a:rPr>
              <a:t>を使用し</a:t>
            </a:r>
            <a:r>
              <a:rPr lang="ja-JP" altLang="en-US">
                <a:ea typeface="游ゴシック"/>
              </a:rPr>
              <a:t>、DBは</a:t>
            </a:r>
            <a:r>
              <a:rPr lang="en-US" altLang="ja-JP" dirty="0">
                <a:ea typeface="游ゴシック"/>
              </a:rPr>
              <a:t>Azure Database for </a:t>
            </a:r>
            <a:r>
              <a:rPr lang="en-US" altLang="ja-JP" dirty="0" err="1">
                <a:ea typeface="游ゴシック"/>
              </a:rPr>
              <a:t>MySQLを利用しました</a:t>
            </a:r>
            <a:r>
              <a:rPr lang="en-US" altLang="ja-JP" dirty="0">
                <a:ea typeface="游ゴシック"/>
              </a:rPr>
              <a:t>。</a:t>
            </a:r>
            <a:endParaRPr lang="ja-JP">
              <a:ea typeface="游ゴシック" panose="020B0400000000000000" pitchFamily="34" charset="-128"/>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7</a:t>
            </a:fld>
            <a:endParaRPr kumimoji="1" lang="ja-JP" altLang="en-US"/>
          </a:p>
        </p:txBody>
      </p:sp>
    </p:spTree>
    <p:extLst>
      <p:ext uri="{BB962C8B-B14F-4D97-AF65-F5344CB8AC3E}">
        <p14:creationId xmlns:p14="http://schemas.microsoft.com/office/powerpoint/2010/main" val="3687392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 </a:t>
            </a:r>
            <a:r>
              <a:rPr lang="ja-JP"/>
              <a:t>変更案</a:t>
            </a:r>
            <a:r>
              <a:rPr lang="en-US" dirty="0"/>
              <a:t> ---</a:t>
            </a:r>
          </a:p>
          <a:p>
            <a:r>
              <a:rPr lang="en-US" dirty="0" err="1"/>
              <a:t>説明はここまでに、デモンストレーションの様子をお見せします</a:t>
            </a:r>
            <a:r>
              <a:rPr lang="en-US" dirty="0"/>
              <a:t>。</a:t>
            </a:r>
          </a:p>
          <a:p>
            <a:endParaRPr lang="en-US" dirty="0">
              <a:ea typeface="游ゴシック" panose="020F0502020204030204"/>
            </a:endParaRPr>
          </a:p>
          <a:p>
            <a:r>
              <a:rPr lang="ja-JP" altLang="en-US">
                <a:ea typeface="游ゴシック"/>
              </a:rPr>
              <a:t>デモンストレーションは以上です、いかがでしたでしょうか</a:t>
            </a:r>
            <a:r>
              <a:rPr lang="en-US" dirty="0"/>
              <a:t>。</a:t>
            </a:r>
            <a:endParaRPr lang="en-US" dirty="0">
              <a:ea typeface="游ゴシック"/>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8</a:t>
            </a:fld>
            <a:endParaRPr kumimoji="1" lang="ja-JP" altLang="en-US"/>
          </a:p>
        </p:txBody>
      </p:sp>
    </p:spTree>
    <p:extLst>
      <p:ext uri="{BB962C8B-B14F-4D97-AF65-F5344CB8AC3E}">
        <p14:creationId xmlns:p14="http://schemas.microsoft.com/office/powerpoint/2010/main" val="2144475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t>所感(カメラ周り）</a:t>
            </a:r>
            <a:endParaRPr lang="en-US" altLang="ja-JP"/>
          </a:p>
          <a:p>
            <a:endParaRPr lang="ja-JP"/>
          </a:p>
          <a:p>
            <a:r>
              <a:rPr lang="ja-JP"/>
              <a:t>最初は初めてのAI技術を触ってみるということでワクワクした。しかし、開発を進めていけばいくほど、CustomVisionでの認識方法、結果情報の送信、ページ遷移など、問題が山積みとなり、開発の沼にズルズルと呑まれてしまった。分からない部分が分からないから、人に聞こうにも聞けない。詰みに近い状態だったが、機能を一気に考えるのではなく、分割して、単純な動きとして考えることにより、画像のアップロード、認識、結果の表示など、設計書通りではないが、一つの機能として動くレベルまでは持っていくことができた。</a:t>
            </a:r>
            <a:endParaRPr lang="en-US" altLang="ja-JP"/>
          </a:p>
          <a:p>
            <a:endParaRPr lang="ja-JP"/>
          </a:p>
          <a:p>
            <a:endParaRPr lang="ja-JP" dirty="0">
              <a:latin typeface="游ゴシック"/>
              <a:ea typeface="游ゴシック"/>
              <a:cs typeface="Calibri"/>
            </a:endParaRPr>
          </a:p>
          <a:p>
            <a:r>
              <a:rPr lang="en-US" altLang="ja-JP" dirty="0"/>
              <a:t>--- </a:t>
            </a:r>
            <a:r>
              <a:rPr lang="ja-JP"/>
              <a:t>変更案</a:t>
            </a:r>
            <a:r>
              <a:rPr lang="en-US" altLang="ja-JP" dirty="0"/>
              <a:t> ---</a:t>
            </a:r>
            <a:endParaRPr lang="ja-JP" dirty="0"/>
          </a:p>
          <a:p>
            <a:r>
              <a:rPr lang="en-US" altLang="ja-JP" dirty="0" err="1">
                <a:latin typeface="Calibri"/>
                <a:ea typeface="游ゴシック"/>
                <a:cs typeface="Calibri"/>
              </a:rPr>
              <a:t>今回の開発を通しての所感です</a:t>
            </a:r>
            <a:r>
              <a:rPr lang="en-US" altLang="ja-JP" dirty="0">
                <a:latin typeface="Calibri"/>
                <a:ea typeface="游ゴシック"/>
                <a:cs typeface="Calibri"/>
              </a:rPr>
              <a:t>。</a:t>
            </a:r>
          </a:p>
          <a:p>
            <a:r>
              <a:rPr lang="en-US" altLang="ja-JP" dirty="0" err="1">
                <a:latin typeface="Calibri"/>
                <a:ea typeface="游ゴシック"/>
                <a:cs typeface="Calibri"/>
              </a:rPr>
              <a:t>最初はAI技術を利用するということでワクワクしました</a:t>
            </a:r>
            <a:r>
              <a:rPr lang="en-US" altLang="ja-JP" dirty="0">
                <a:latin typeface="Calibri"/>
                <a:ea typeface="游ゴシック"/>
                <a:cs typeface="Calibri"/>
              </a:rPr>
              <a:t>。</a:t>
            </a:r>
          </a:p>
          <a:p>
            <a:r>
              <a:rPr lang="en-US" altLang="ja-JP" dirty="0" err="1">
                <a:latin typeface="Calibri"/>
                <a:ea typeface="游ゴシック"/>
                <a:cs typeface="Calibri"/>
              </a:rPr>
              <a:t>しかし、開発を進めていくほどCustomVisionでの問題が山積みになり、開発の沼に呑まれてしまった</a:t>
            </a:r>
            <a:r>
              <a:rPr lang="en-US" altLang="ja-JP" dirty="0">
                <a:latin typeface="Calibri"/>
                <a:ea typeface="游ゴシック"/>
                <a:cs typeface="Calibri"/>
              </a:rPr>
              <a:t>。</a:t>
            </a:r>
          </a:p>
          <a:p>
            <a:r>
              <a:rPr lang="en-US" altLang="ja-JP" dirty="0" err="1">
                <a:latin typeface="Calibri"/>
                <a:ea typeface="游ゴシック"/>
                <a:cs typeface="Calibri"/>
              </a:rPr>
              <a:t>開発中盤からは詰みに近い状態だったが、必要な機能を分割して考え作業をすすめたことで</a:t>
            </a:r>
            <a:r>
              <a:rPr lang="en-US" altLang="ja-JP" dirty="0">
                <a:latin typeface="Calibri"/>
                <a:ea typeface="游ゴシック"/>
                <a:cs typeface="Calibri"/>
              </a:rPr>
              <a:t>、</a:t>
            </a:r>
          </a:p>
          <a:p>
            <a:r>
              <a:rPr lang="en-US" altLang="ja-JP" dirty="0" err="1">
                <a:latin typeface="Calibri"/>
                <a:ea typeface="游ゴシック"/>
                <a:cs typeface="Calibri"/>
              </a:rPr>
              <a:t>完璧とは言えないが、予定していた機能まで</a:t>
            </a:r>
            <a:r>
              <a:rPr lang="en-US" dirty="0" err="1"/>
              <a:t>実装することができたのでよかった</a:t>
            </a:r>
            <a:r>
              <a:rPr lang="ja-JP" altLang="en-US">
                <a:ea typeface="游ゴシック"/>
              </a:rPr>
              <a:t>。</a:t>
            </a:r>
            <a:endParaRPr lang="en-US" altLang="ja-JP">
              <a:latin typeface="Calibri"/>
              <a:ea typeface="游ゴシック"/>
              <a:cs typeface="Calibri"/>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9</a:t>
            </a:fld>
            <a:endParaRPr kumimoji="1" lang="ja-JP" altLang="en-US"/>
          </a:p>
        </p:txBody>
      </p:sp>
    </p:spTree>
    <p:extLst>
      <p:ext uri="{BB962C8B-B14F-4D97-AF65-F5344CB8AC3E}">
        <p14:creationId xmlns:p14="http://schemas.microsoft.com/office/powerpoint/2010/main" val="2775154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ea typeface="游ゴシック"/>
              </a:rPr>
              <a:t>進展</a:t>
            </a:r>
            <a:endParaRPr lang="en-US" altLang="ja-JP" dirty="0">
              <a:ea typeface="游ゴシック"/>
            </a:endParaRPr>
          </a:p>
          <a:p>
            <a:r>
              <a:rPr lang="ja-JP">
                <a:ea typeface="游ゴシック"/>
              </a:rPr>
              <a:t>・予算や数、箱などを入力してケーキの数や種類を絞ってくれる機能など　の追加でさらに店員の負担を減らせるにする</a:t>
            </a:r>
            <a:endParaRPr lang="en-US" altLang="ja-JP" dirty="0">
              <a:ea typeface="游ゴシック"/>
            </a:endParaRPr>
          </a:p>
          <a:p>
            <a:r>
              <a:rPr lang="ja-JP">
                <a:ea typeface="游ゴシック"/>
              </a:rPr>
              <a:t>・減ってきた商品を告知してすぐに補充できるようにする</a:t>
            </a:r>
          </a:p>
          <a:p>
            <a:r>
              <a:rPr lang="ja-JP">
                <a:ea typeface="游ゴシック"/>
              </a:rPr>
              <a:t>・よく売れる時間帯なども記録しケーキの廃棄数を減らす</a:t>
            </a:r>
            <a:endParaRPr lang="en-US" altLang="ja-JP" dirty="0">
              <a:ea typeface="游ゴシック"/>
            </a:endParaRPr>
          </a:p>
          <a:p>
            <a:r>
              <a:rPr lang="ja-JP">
                <a:ea typeface="游ゴシック"/>
              </a:rPr>
              <a:t>・予約情報なども管理できるようにすれば材料の発注数を簡単に管理できる</a:t>
            </a:r>
          </a:p>
          <a:p>
            <a:endParaRPr lang="ja-JP" dirty="0">
              <a:latin typeface="游ゴシック"/>
              <a:ea typeface="游ゴシック"/>
              <a:cs typeface="Calibri"/>
            </a:endParaRPr>
          </a:p>
          <a:p>
            <a:r>
              <a:rPr lang="en-US" altLang="ja-JP" dirty="0">
                <a:ea typeface="游ゴシック"/>
              </a:rPr>
              <a:t>--- </a:t>
            </a:r>
            <a:r>
              <a:rPr lang="ja-JP">
                <a:ea typeface="游ゴシック"/>
              </a:rPr>
              <a:t>変更案</a:t>
            </a:r>
            <a:r>
              <a:rPr lang="en-US" altLang="ja-JP" dirty="0">
                <a:ea typeface="游ゴシック"/>
              </a:rPr>
              <a:t> ---</a:t>
            </a:r>
            <a:endParaRPr lang="ja-JP">
              <a:ea typeface="游ゴシック"/>
            </a:endParaRPr>
          </a:p>
          <a:p>
            <a:r>
              <a:rPr lang="en-US" altLang="ja-JP" dirty="0" err="1">
                <a:latin typeface="Calibri"/>
                <a:ea typeface="游ゴシック"/>
                <a:cs typeface="Calibri"/>
              </a:rPr>
              <a:t>今後の展望としてあげられるのは</a:t>
            </a:r>
            <a:r>
              <a:rPr lang="en-US" altLang="ja-JP" dirty="0">
                <a:latin typeface="Calibri"/>
                <a:ea typeface="游ゴシック"/>
                <a:cs typeface="Calibri"/>
              </a:rPr>
              <a:t>、</a:t>
            </a:r>
            <a:endParaRPr lang="en-US" altLang="ja-JP" dirty="0">
              <a:latin typeface="Calibri"/>
              <a:ea typeface="游ゴシック" panose="020B0400000000000000" pitchFamily="34" charset="-128"/>
              <a:cs typeface="Calibri"/>
            </a:endParaRPr>
          </a:p>
          <a:p>
            <a:r>
              <a:rPr lang="en-US" altLang="ja-JP" dirty="0">
                <a:latin typeface="Calibri"/>
                <a:ea typeface="游ゴシック"/>
                <a:cs typeface="Calibri"/>
              </a:rPr>
              <a:t>①</a:t>
            </a:r>
            <a:r>
              <a:rPr lang="en-US" altLang="ja-JP" dirty="0" err="1">
                <a:latin typeface="Calibri"/>
                <a:ea typeface="游ゴシック"/>
                <a:cs typeface="Calibri"/>
              </a:rPr>
              <a:t>顧客からの要望をもとに商品提案の機能を実装して、店員さんの負担減をはかる</a:t>
            </a:r>
            <a:endParaRPr lang="en-US" altLang="ja-JP" dirty="0">
              <a:latin typeface="Calibri"/>
              <a:ea typeface="游ゴシック"/>
              <a:cs typeface="Calibri"/>
            </a:endParaRPr>
          </a:p>
          <a:p>
            <a:r>
              <a:rPr lang="en-US" altLang="ja-JP" dirty="0">
                <a:latin typeface="Calibri"/>
                <a:ea typeface="游ゴシック"/>
                <a:cs typeface="Calibri"/>
              </a:rPr>
              <a:t>②</a:t>
            </a:r>
            <a:r>
              <a:rPr lang="en-US" altLang="ja-JP" dirty="0" err="1">
                <a:latin typeface="Calibri"/>
                <a:ea typeface="游ゴシック"/>
                <a:cs typeface="Calibri"/>
              </a:rPr>
              <a:t>商品在庫が少ない商品の告知機能を実装して、迅速な商品補充を実現</a:t>
            </a:r>
            <a:endParaRPr lang="en-US" altLang="ja-JP" dirty="0">
              <a:latin typeface="Calibri"/>
              <a:ea typeface="游ゴシック"/>
              <a:cs typeface="Calibri"/>
            </a:endParaRPr>
          </a:p>
          <a:p>
            <a:r>
              <a:rPr lang="en-US" altLang="ja-JP" dirty="0">
                <a:latin typeface="Calibri"/>
                <a:ea typeface="游ゴシック"/>
                <a:cs typeface="Calibri"/>
              </a:rPr>
              <a:t>③</a:t>
            </a:r>
            <a:r>
              <a:rPr lang="en-US" altLang="ja-JP" dirty="0" err="1">
                <a:latin typeface="Calibri"/>
                <a:ea typeface="游ゴシック"/>
                <a:cs typeface="Calibri"/>
              </a:rPr>
              <a:t>時間帯ごとの売上を記録する機能を実装して</a:t>
            </a:r>
            <a:r>
              <a:rPr lang="en-US" altLang="ja-JP" dirty="0">
                <a:latin typeface="Calibri"/>
                <a:ea typeface="游ゴシック"/>
                <a:cs typeface="Calibri"/>
              </a:rPr>
              <a:t>、</a:t>
            </a:r>
            <a:r>
              <a:rPr lang="ja-JP" altLang="en-US">
                <a:ea typeface="游ゴシック"/>
              </a:rPr>
              <a:t>売上商品数を参考に商品の廃棄数減を図る</a:t>
            </a:r>
          </a:p>
          <a:p>
            <a:r>
              <a:rPr lang="ja-JP" altLang="en-US">
                <a:ea typeface="游ゴシック"/>
              </a:rPr>
              <a:t>④予約情報の管理機能を実装して、材料の発注管理を容易にする</a:t>
            </a:r>
          </a:p>
          <a:p>
            <a:r>
              <a:rPr lang="ja-JP" altLang="en-US">
                <a:ea typeface="游ゴシック"/>
              </a:rPr>
              <a:t>の4つです。</a:t>
            </a:r>
            <a:endParaRPr lang="ja-JP" altLang="en-US" dirty="0">
              <a:ea typeface="游ゴシック"/>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10</a:t>
            </a:fld>
            <a:endParaRPr kumimoji="1" lang="ja-JP" altLang="en-US"/>
          </a:p>
        </p:txBody>
      </p:sp>
    </p:spTree>
    <p:extLst>
      <p:ext uri="{BB962C8B-B14F-4D97-AF65-F5344CB8AC3E}">
        <p14:creationId xmlns:p14="http://schemas.microsoft.com/office/powerpoint/2010/main" val="154146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err="1">
                <a:latin typeface="Calibri"/>
                <a:ea typeface="游ゴシック"/>
                <a:cs typeface="Calibri"/>
              </a:rPr>
              <a:t>これでガトーショコラ班の発表を終わります</a:t>
            </a:r>
            <a:r>
              <a:rPr lang="en-US" altLang="ja-JP" dirty="0">
                <a:latin typeface="Calibri"/>
                <a:ea typeface="游ゴシック"/>
                <a:cs typeface="Calibri"/>
              </a:rPr>
              <a:t>。</a:t>
            </a:r>
            <a:endParaRPr lang="ja-JP" altLang="en-US" dirty="0"/>
          </a:p>
          <a:p>
            <a:r>
              <a:rPr lang="en-US" altLang="ja-JP" dirty="0" err="1">
                <a:latin typeface="Calibri"/>
                <a:ea typeface="游ゴシック"/>
                <a:cs typeface="Calibri"/>
              </a:rPr>
              <a:t>ご清聴ありがとうございました</a:t>
            </a:r>
            <a:r>
              <a:rPr lang="en-US" altLang="ja-JP" dirty="0">
                <a:latin typeface="Calibri"/>
                <a:ea typeface="游ゴシック"/>
                <a:cs typeface="Calibri"/>
              </a:rPr>
              <a:t>。</a:t>
            </a:r>
            <a:endParaRPr lang="en-US" dirty="0" err="1"/>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11</a:t>
            </a:fld>
            <a:endParaRPr kumimoji="1" lang="ja-JP" altLang="en-US"/>
          </a:p>
        </p:txBody>
      </p:sp>
    </p:spTree>
    <p:extLst>
      <p:ext uri="{BB962C8B-B14F-4D97-AF65-F5344CB8AC3E}">
        <p14:creationId xmlns:p14="http://schemas.microsoft.com/office/powerpoint/2010/main" val="1826045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9B213D-F4D7-4FA2-8523-438F40F9C2A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E38F0BF-6069-4548-948D-47DF052C23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51C296E-CE99-4B44-B490-D174E24AE9E8}"/>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5" name="フッター プレースホルダー 4">
            <a:extLst>
              <a:ext uri="{FF2B5EF4-FFF2-40B4-BE49-F238E27FC236}">
                <a16:creationId xmlns:a16="http://schemas.microsoft.com/office/drawing/2014/main" id="{0BC51C94-9D8E-4AC2-8E07-1802D013EA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E5EB776-5A8E-4874-AA13-DA2F557BD5EB}"/>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3305673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5337EC-13EE-465B-BE83-8B2F25A5AB1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547CA3F-2310-4E0B-BADD-D69795D06C2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31AE52-AC90-4C7C-BF30-BFF35D793D7B}"/>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5" name="フッター プレースホルダー 4">
            <a:extLst>
              <a:ext uri="{FF2B5EF4-FFF2-40B4-BE49-F238E27FC236}">
                <a16:creationId xmlns:a16="http://schemas.microsoft.com/office/drawing/2014/main" id="{C2FA7481-5919-4DD0-BBEF-CF48088F6D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EA2377-BAB7-4E28-BA38-A6823E98F631}"/>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293211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7DB4DD-9A2A-4C88-96AB-DE8811C9060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0AB23C-3A37-4756-8003-BF753D7E56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9C9909B-8549-4C26-AB1D-51AA153FD881}"/>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5" name="フッター プレースホルダー 4">
            <a:extLst>
              <a:ext uri="{FF2B5EF4-FFF2-40B4-BE49-F238E27FC236}">
                <a16:creationId xmlns:a16="http://schemas.microsoft.com/office/drawing/2014/main" id="{64B02E77-F20E-45EE-A321-E04FCF47EC4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A80B60-4052-4C83-9FE1-1C6C7575F7ED}"/>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549871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61C62D-831E-4251-953C-1B6F2F21200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5E26F67-1ABE-48B5-8606-D8EF9B40F57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E4AD465-3F02-4C33-B748-416FC1065E0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EE5810C-3243-4666-8200-21ADDE9E4169}"/>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6" name="フッター プレースホルダー 5">
            <a:extLst>
              <a:ext uri="{FF2B5EF4-FFF2-40B4-BE49-F238E27FC236}">
                <a16:creationId xmlns:a16="http://schemas.microsoft.com/office/drawing/2014/main" id="{35A63D1D-4B08-424F-99B8-F3C5F46ED3E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D1A90C4-8E6B-40D8-8EC0-1527C1D75EF7}"/>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2549753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1036CE-E94D-422C-87B6-FCF9F1F3C0C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239AB9-A026-4077-B675-F2485FC9C0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09C8626-FC61-41C5-9788-E95B6C4BC06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5DD98AC-D94F-4E63-97D3-0E3E901CE9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5741A8D-B282-4D90-AD12-C26F59CA6A9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3C21D33-9775-4D00-8513-DEB1FA38BA01}"/>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8" name="フッター プレースホルダー 7">
            <a:extLst>
              <a:ext uri="{FF2B5EF4-FFF2-40B4-BE49-F238E27FC236}">
                <a16:creationId xmlns:a16="http://schemas.microsoft.com/office/drawing/2014/main" id="{68AA84EA-EA51-4EDD-8064-45FB708C49B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5E3FB0F-F822-4856-AD31-CC63D4391A06}"/>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2660482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7E551E-77AB-464A-89C0-E91FE9543E9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24C942B-E476-4616-9E62-FE9640FDC6CD}"/>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4" name="フッター プレースホルダー 3">
            <a:extLst>
              <a:ext uri="{FF2B5EF4-FFF2-40B4-BE49-F238E27FC236}">
                <a16:creationId xmlns:a16="http://schemas.microsoft.com/office/drawing/2014/main" id="{676997E7-872B-4FAD-A680-80598CCC277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DA6FA64-0522-4431-A3ED-A35441B677DD}"/>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264828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63F1838-E45F-47AB-9013-5A390204AF18}"/>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3" name="フッター プレースホルダー 2">
            <a:extLst>
              <a:ext uri="{FF2B5EF4-FFF2-40B4-BE49-F238E27FC236}">
                <a16:creationId xmlns:a16="http://schemas.microsoft.com/office/drawing/2014/main" id="{EE95A0DC-5F2B-4398-B2DF-378F79AA5B7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D4FEB1-034A-4ECC-A27B-23BE6B228DF9}"/>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513490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1FC46-7686-426C-A7E7-6815B6AEE1F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43A3FCB-566D-46E9-9B66-F19F7EA68C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F72B305-FEB1-4216-802A-5A30DD80C5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5FE93DC-85ED-48BB-8ED8-7949CCB3F262}"/>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6" name="フッター プレースホルダー 5">
            <a:extLst>
              <a:ext uri="{FF2B5EF4-FFF2-40B4-BE49-F238E27FC236}">
                <a16:creationId xmlns:a16="http://schemas.microsoft.com/office/drawing/2014/main" id="{AB94AB74-E95A-47C2-9869-783763E5F96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E5E82B5-F358-499B-9389-D61D6BF14DC0}"/>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963862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A4722B-EDC0-4CAE-B203-9C73D89EFAA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0749262-0D86-487C-81A5-1B38E31FF7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6E80F81-2086-4824-9287-4C7BDCF29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2CA1F7D-BDB7-48BA-9DDF-8FB3E83F57A6}"/>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6" name="フッター プレースホルダー 5">
            <a:extLst>
              <a:ext uri="{FF2B5EF4-FFF2-40B4-BE49-F238E27FC236}">
                <a16:creationId xmlns:a16="http://schemas.microsoft.com/office/drawing/2014/main" id="{E32C2488-2FA5-4074-818F-FE18CF0A767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D6D2846-C009-4EC4-A1A2-51A7936A564A}"/>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2288765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130961-6446-4228-94F0-FF8383FB86F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42F2CA9-A4FF-4808-99DD-CECE0ACA757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2ECC7D6-DE7E-4878-B172-D79EB6FB34F8}"/>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5" name="フッター プレースホルダー 4">
            <a:extLst>
              <a:ext uri="{FF2B5EF4-FFF2-40B4-BE49-F238E27FC236}">
                <a16:creationId xmlns:a16="http://schemas.microsoft.com/office/drawing/2014/main" id="{DE99B5E7-5E72-4B3D-A336-FBC7CB511B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9AD410E-9D8F-42A4-9A96-86CAAA817A0E}"/>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3222800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3E994BA-CAF0-4F9B-9608-C7032618FF2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CC7B39-B340-4C4C-BE02-430E600FF7B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661D22-29C5-462E-A6A2-38D42601ECB9}"/>
              </a:ext>
            </a:extLst>
          </p:cNvPr>
          <p:cNvSpPr>
            <a:spLocks noGrp="1"/>
          </p:cNvSpPr>
          <p:nvPr>
            <p:ph type="dt" sz="half" idx="10"/>
          </p:nvPr>
        </p:nvSpPr>
        <p:spPr/>
        <p:txBody>
          <a:bodyPr/>
          <a:lstStyle/>
          <a:p>
            <a:fld id="{5847E6A3-C410-46CC-B970-441738CFE17E}" type="datetimeFigureOut">
              <a:rPr kumimoji="1" lang="ja-JP" altLang="en-US" smtClean="0"/>
              <a:t>2020/8/19</a:t>
            </a:fld>
            <a:endParaRPr kumimoji="1" lang="ja-JP" altLang="en-US"/>
          </a:p>
        </p:txBody>
      </p:sp>
      <p:sp>
        <p:nvSpPr>
          <p:cNvPr id="5" name="フッター プレースホルダー 4">
            <a:extLst>
              <a:ext uri="{FF2B5EF4-FFF2-40B4-BE49-F238E27FC236}">
                <a16:creationId xmlns:a16="http://schemas.microsoft.com/office/drawing/2014/main" id="{B33B8B43-6EC4-4048-98D3-4369435C0F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9602BA-45C1-4C5E-9310-8F162F840362}"/>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301366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DED6DFF-9E2D-431B-8C0D-FE26B31695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573E24-286C-4303-844E-477E5703A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766FCA1-611A-4587-AED6-058EBB879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47E6A3-C410-46CC-B970-441738CFE17E}" type="datetimeFigureOut">
              <a:rPr kumimoji="1" lang="ja-JP" altLang="en-US" smtClean="0"/>
              <a:t>2020/8/19</a:t>
            </a:fld>
            <a:endParaRPr kumimoji="1" lang="ja-JP" altLang="en-US"/>
          </a:p>
        </p:txBody>
      </p:sp>
      <p:sp>
        <p:nvSpPr>
          <p:cNvPr id="5" name="フッター プレースホルダー 4">
            <a:extLst>
              <a:ext uri="{FF2B5EF4-FFF2-40B4-BE49-F238E27FC236}">
                <a16:creationId xmlns:a16="http://schemas.microsoft.com/office/drawing/2014/main" id="{854662FA-9240-4615-A512-FECED6C79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DE33E66-1C85-4711-AE91-E820FA4B4F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963308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B679BF-8A51-4B2E-89DC-1A90794DE4BA}"/>
              </a:ext>
            </a:extLst>
          </p:cNvPr>
          <p:cNvSpPr>
            <a:spLocks noGrp="1"/>
          </p:cNvSpPr>
          <p:nvPr>
            <p:ph type="ctrTitle"/>
          </p:nvPr>
        </p:nvSpPr>
        <p:spPr>
          <a:xfrm>
            <a:off x="1524000" y="1409431"/>
            <a:ext cx="9144000" cy="1328738"/>
          </a:xfrm>
          <a:ln w="38100">
            <a:noFill/>
          </a:ln>
        </p:spPr>
        <p:txBody>
          <a:bodyPr>
            <a:normAutofit/>
          </a:bodyPr>
          <a:lstStyle/>
          <a:p>
            <a:r>
              <a:rPr kumimoji="1" lang="ja-JP" altLang="en-US" b="1" dirty="0">
                <a:latin typeface="メイリオ" panose="020B0604030504040204" pitchFamily="50" charset="-128"/>
                <a:ea typeface="メイリオ" panose="020B0604030504040204" pitchFamily="50" charset="-128"/>
                <a:cs typeface="Aharoni"/>
              </a:rPr>
              <a:t>ケーキ屋さんの会計計算</a:t>
            </a:r>
            <a:endParaRPr lang="ja-JP" altLang="en-US" b="1" dirty="0">
              <a:latin typeface="メイリオ" panose="020B0604030504040204" pitchFamily="50" charset="-128"/>
              <a:ea typeface="メイリオ" panose="020B0604030504040204" pitchFamily="50" charset="-128"/>
              <a:cs typeface="Aharoni"/>
            </a:endParaRPr>
          </a:p>
        </p:txBody>
      </p:sp>
      <p:sp>
        <p:nvSpPr>
          <p:cNvPr id="4" name="テキスト ボックス 3">
            <a:extLst>
              <a:ext uri="{FF2B5EF4-FFF2-40B4-BE49-F238E27FC236}">
                <a16:creationId xmlns:a16="http://schemas.microsoft.com/office/drawing/2014/main" id="{8932374A-93F9-4648-BFAD-69DD6D86C374}"/>
              </a:ext>
            </a:extLst>
          </p:cNvPr>
          <p:cNvSpPr txBox="1"/>
          <p:nvPr/>
        </p:nvSpPr>
        <p:spPr>
          <a:xfrm>
            <a:off x="7248524" y="4815166"/>
            <a:ext cx="3845300" cy="646331"/>
          </a:xfrm>
          <a:prstGeom prst="rect">
            <a:avLst/>
          </a:prstGeom>
          <a:noFill/>
        </p:spPr>
        <p:txBody>
          <a:bodyPr wrap="square" rtlCol="0">
            <a:spAutoFit/>
          </a:bodyPr>
          <a:lstStyle/>
          <a:p>
            <a:pPr algn="ctr"/>
            <a:r>
              <a:rPr kumimoji="1" lang="ja-JP" altLang="en-US" sz="3600" b="1" dirty="0">
                <a:latin typeface="メイリオ" panose="020B0604030504040204" pitchFamily="50" charset="-128"/>
                <a:ea typeface="メイリオ" panose="020B0604030504040204" pitchFamily="50" charset="-128"/>
              </a:rPr>
              <a:t>ガトーショコラ</a:t>
            </a:r>
          </a:p>
        </p:txBody>
      </p:sp>
    </p:spTree>
    <p:extLst>
      <p:ext uri="{BB962C8B-B14F-4D97-AF65-F5344CB8AC3E}">
        <p14:creationId xmlns:p14="http://schemas.microsoft.com/office/powerpoint/2010/main" val="3196699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8483E11F-413B-4C00-80AE-7E703C14FCB3}"/>
              </a:ext>
            </a:extLst>
          </p:cNvPr>
          <p:cNvSpPr txBox="1"/>
          <p:nvPr/>
        </p:nvSpPr>
        <p:spPr>
          <a:xfrm>
            <a:off x="1127528" y="2067622"/>
            <a:ext cx="9936943" cy="1938992"/>
          </a:xfrm>
          <a:prstGeom prst="rect">
            <a:avLst/>
          </a:prstGeom>
          <a:noFill/>
        </p:spPr>
        <p:txBody>
          <a:bodyPr wrap="square" rtlCol="0" anchor="t">
            <a:spAutoFit/>
          </a:bodyPr>
          <a:lstStyle/>
          <a:p>
            <a:pPr algn="ctr"/>
            <a:r>
              <a:rPr lang="ja-JP" altLang="en-US" sz="4000" b="1" dirty="0">
                <a:latin typeface="メイリオ" panose="020B0604030504040204" pitchFamily="50" charset="-128"/>
                <a:ea typeface="メイリオ" panose="020B0604030504040204" pitchFamily="50" charset="-128"/>
              </a:rPr>
              <a:t>ケーキ屋の店員さんが</a:t>
            </a:r>
            <a:endParaRPr lang="en-US" altLang="ja-JP" sz="4000" b="1" dirty="0">
              <a:latin typeface="メイリオ" panose="020B0604030504040204" pitchFamily="50" charset="-128"/>
              <a:ea typeface="メイリオ" panose="020B0604030504040204" pitchFamily="50" charset="-128"/>
            </a:endParaRPr>
          </a:p>
          <a:p>
            <a:pPr algn="ctr"/>
            <a:r>
              <a:rPr lang="ja-JP" altLang="en-US" sz="4000" b="1" dirty="0">
                <a:solidFill>
                  <a:srgbClr val="FF0000"/>
                </a:solidFill>
                <a:latin typeface="メイリオ" panose="020B0604030504040204" pitchFamily="50" charset="-128"/>
                <a:ea typeface="メイリオ" panose="020B0604030504040204" pitchFamily="50" charset="-128"/>
              </a:rPr>
              <a:t>全商品の値段を覚えていて</a:t>
            </a:r>
            <a:endParaRPr lang="en-US" altLang="ja-JP" sz="4000" b="1" dirty="0">
              <a:latin typeface="メイリオ" panose="020B0604030504040204" pitchFamily="50" charset="-128"/>
              <a:ea typeface="メイリオ" panose="020B0604030504040204" pitchFamily="50" charset="-128"/>
            </a:endParaRPr>
          </a:p>
          <a:p>
            <a:pPr algn="ctr"/>
            <a:r>
              <a:rPr lang="ja-JP" altLang="en-US" sz="4000" b="1" dirty="0">
                <a:latin typeface="メイリオ" panose="020B0604030504040204" pitchFamily="50" charset="-128"/>
                <a:ea typeface="メイリオ" panose="020B0604030504040204" pitchFamily="50" charset="-128"/>
              </a:rPr>
              <a:t>すごいな～と思ったことはありませんか？</a:t>
            </a:r>
          </a:p>
        </p:txBody>
      </p:sp>
      <p:sp>
        <p:nvSpPr>
          <p:cNvPr id="2" name="タイトル 1">
            <a:extLst>
              <a:ext uri="{FF2B5EF4-FFF2-40B4-BE49-F238E27FC236}">
                <a16:creationId xmlns:a16="http://schemas.microsoft.com/office/drawing/2014/main" id="{F9524377-1752-446C-8264-4BA8BDE9C217}"/>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突然ですが･･･</a:t>
            </a:r>
          </a:p>
        </p:txBody>
      </p:sp>
    </p:spTree>
    <p:extLst>
      <p:ext uri="{BB962C8B-B14F-4D97-AF65-F5344CB8AC3E}">
        <p14:creationId xmlns:p14="http://schemas.microsoft.com/office/powerpoint/2010/main" val="1986005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EDD1C4-6C6A-4475-B6E8-EA3CC6B71B92}"/>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すごいと思う裏側では･･･？</a:t>
            </a:r>
          </a:p>
        </p:txBody>
      </p:sp>
      <p:grpSp>
        <p:nvGrpSpPr>
          <p:cNvPr id="16" name="グループ化 15">
            <a:extLst>
              <a:ext uri="{FF2B5EF4-FFF2-40B4-BE49-F238E27FC236}">
                <a16:creationId xmlns:a16="http://schemas.microsoft.com/office/drawing/2014/main" id="{EC8551ED-F980-4C1C-8BC5-3EC4FD581C23}"/>
              </a:ext>
            </a:extLst>
          </p:cNvPr>
          <p:cNvGrpSpPr/>
          <p:nvPr/>
        </p:nvGrpSpPr>
        <p:grpSpPr>
          <a:xfrm>
            <a:off x="2343584" y="2902032"/>
            <a:ext cx="9010216" cy="3835389"/>
            <a:chOff x="2343584" y="2902032"/>
            <a:chExt cx="9010216" cy="3835389"/>
          </a:xfrm>
        </p:grpSpPr>
        <p:grpSp>
          <p:nvGrpSpPr>
            <p:cNvPr id="14" name="グループ化 13">
              <a:extLst>
                <a:ext uri="{FF2B5EF4-FFF2-40B4-BE49-F238E27FC236}">
                  <a16:creationId xmlns:a16="http://schemas.microsoft.com/office/drawing/2014/main" id="{51B6A3A3-F6F3-4928-93B2-B238956D9ED2}"/>
                </a:ext>
              </a:extLst>
            </p:cNvPr>
            <p:cNvGrpSpPr/>
            <p:nvPr/>
          </p:nvGrpSpPr>
          <p:grpSpPr>
            <a:xfrm>
              <a:off x="7411453" y="2902032"/>
              <a:ext cx="3942347" cy="3835389"/>
              <a:chOff x="7411453" y="2657487"/>
              <a:chExt cx="3942347" cy="3835389"/>
            </a:xfrm>
          </p:grpSpPr>
          <p:pic>
            <p:nvPicPr>
              <p:cNvPr id="5" name="図 4">
                <a:extLst>
                  <a:ext uri="{FF2B5EF4-FFF2-40B4-BE49-F238E27FC236}">
                    <a16:creationId xmlns:a16="http://schemas.microsoft.com/office/drawing/2014/main" id="{FAEFD36B-3300-44AE-8A22-CA35FD78DACD}"/>
                  </a:ext>
                </a:extLst>
              </p:cNvPr>
              <p:cNvPicPr>
                <a:picLocks noChangeAspect="1"/>
              </p:cNvPicPr>
              <p:nvPr/>
            </p:nvPicPr>
            <p:blipFill rotWithShape="1">
              <a:blip r:embed="rId3">
                <a:extLst>
                  <a:ext uri="{28A0092B-C50C-407E-A947-70E740481C1C}">
                    <a14:useLocalDpi xmlns:a14="http://schemas.microsoft.com/office/drawing/2010/main" val="0"/>
                  </a:ext>
                </a:extLst>
              </a:blip>
              <a:srcRect l="16360" t="13938" r="39995" b="10576"/>
              <a:stretch/>
            </p:blipFill>
            <p:spPr>
              <a:xfrm>
                <a:off x="7411453" y="2657487"/>
                <a:ext cx="3942347" cy="3835389"/>
              </a:xfrm>
              <a:prstGeom prst="rect">
                <a:avLst/>
              </a:prstGeom>
            </p:spPr>
          </p:pic>
          <p:sp>
            <p:nvSpPr>
              <p:cNvPr id="12" name="正方形/長方形 11">
                <a:extLst>
                  <a:ext uri="{FF2B5EF4-FFF2-40B4-BE49-F238E27FC236}">
                    <a16:creationId xmlns:a16="http://schemas.microsoft.com/office/drawing/2014/main" id="{8C213235-BF94-43B5-BEB3-D59FE79787B4}"/>
                  </a:ext>
                </a:extLst>
              </p:cNvPr>
              <p:cNvSpPr/>
              <p:nvPr/>
            </p:nvSpPr>
            <p:spPr>
              <a:xfrm>
                <a:off x="8052620" y="3377382"/>
                <a:ext cx="405580" cy="1534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 name="テキスト ボックス 7">
              <a:extLst>
                <a:ext uri="{FF2B5EF4-FFF2-40B4-BE49-F238E27FC236}">
                  <a16:creationId xmlns:a16="http://schemas.microsoft.com/office/drawing/2014/main" id="{2B10EB51-FF49-4BD9-A085-986B6C3FF807}"/>
                </a:ext>
              </a:extLst>
            </p:cNvPr>
            <p:cNvSpPr txBox="1"/>
            <p:nvPr/>
          </p:nvSpPr>
          <p:spPr>
            <a:xfrm>
              <a:off x="2343584" y="5125917"/>
              <a:ext cx="5709036" cy="1107996"/>
            </a:xfrm>
            <a:prstGeom prst="rect">
              <a:avLst/>
            </a:prstGeom>
            <a:noFill/>
          </p:spPr>
          <p:txBody>
            <a:bodyPr wrap="square" rtlCol="0">
              <a:spAutoFit/>
            </a:bodyPr>
            <a:lstStyle/>
            <a:p>
              <a:pPr algn="r"/>
              <a:r>
                <a:rPr lang="ja-JP" altLang="en-US" sz="2200" b="1" dirty="0">
                  <a:latin typeface="メイリオ" panose="020B0604030504040204" pitchFamily="50" charset="-128"/>
                  <a:ea typeface="メイリオ" panose="020B0604030504040204" pitchFamily="50" charset="-128"/>
                </a:rPr>
                <a:t>＼</a:t>
              </a:r>
              <a:endParaRPr lang="en-US" altLang="ja-JP" sz="2200" b="1" dirty="0">
                <a:latin typeface="メイリオ" panose="020B0604030504040204" pitchFamily="50" charset="-128"/>
                <a:ea typeface="メイリオ" panose="020B0604030504040204" pitchFamily="50" charset="-128"/>
              </a:endParaRPr>
            </a:p>
            <a:p>
              <a:pPr algn="r"/>
              <a:r>
                <a:rPr lang="ja-JP" altLang="en-US" sz="2200" b="1" dirty="0">
                  <a:latin typeface="メイリオ" panose="020B0604030504040204" pitchFamily="50" charset="-128"/>
                  <a:ea typeface="メイリオ" panose="020B0604030504040204" pitchFamily="50" charset="-128"/>
                </a:rPr>
                <a:t>バイトに入った直後の</a:t>
              </a:r>
              <a:r>
                <a:rPr lang="ja-JP" altLang="en-US" sz="2200" b="1" dirty="0">
                  <a:solidFill>
                    <a:srgbClr val="FF0000"/>
                  </a:solidFill>
                  <a:latin typeface="メイリオ" panose="020B0604030504040204" pitchFamily="50" charset="-128"/>
                  <a:ea typeface="メイリオ" panose="020B0604030504040204" pitchFamily="50" charset="-128"/>
                </a:rPr>
                <a:t>レジでミスをした</a:t>
              </a:r>
              <a:endParaRPr lang="en-US" altLang="ja-JP" sz="2200" b="1" dirty="0">
                <a:solidFill>
                  <a:srgbClr val="FF0000"/>
                </a:solidFill>
                <a:latin typeface="メイリオ" panose="020B0604030504040204" pitchFamily="50" charset="-128"/>
                <a:ea typeface="メイリオ" panose="020B0604030504040204" pitchFamily="50" charset="-128"/>
              </a:endParaRPr>
            </a:p>
            <a:p>
              <a:pPr algn="r"/>
              <a:r>
                <a:rPr lang="ja-JP" altLang="en-US" sz="2200" b="1" dirty="0">
                  <a:latin typeface="メイリオ" panose="020B0604030504040204" pitchFamily="50" charset="-128"/>
                  <a:ea typeface="メイリオ" panose="020B0604030504040204" pitchFamily="50" charset="-128"/>
                </a:rPr>
                <a:t>／</a:t>
              </a:r>
              <a:endParaRPr kumimoji="1" lang="ja-JP" altLang="en-US" sz="2200" b="1" dirty="0">
                <a:latin typeface="メイリオ" panose="020B0604030504040204" pitchFamily="50" charset="-128"/>
                <a:ea typeface="メイリオ" panose="020B0604030504040204" pitchFamily="50" charset="-128"/>
              </a:endParaRPr>
            </a:p>
          </p:txBody>
        </p:sp>
      </p:grpSp>
      <p:grpSp>
        <p:nvGrpSpPr>
          <p:cNvPr id="15" name="グループ化 14">
            <a:extLst>
              <a:ext uri="{FF2B5EF4-FFF2-40B4-BE49-F238E27FC236}">
                <a16:creationId xmlns:a16="http://schemas.microsoft.com/office/drawing/2014/main" id="{F3D2FDA7-1801-40EB-9B9F-FBE52D53C248}"/>
              </a:ext>
            </a:extLst>
          </p:cNvPr>
          <p:cNvGrpSpPr/>
          <p:nvPr/>
        </p:nvGrpSpPr>
        <p:grpSpPr>
          <a:xfrm>
            <a:off x="838199" y="1442591"/>
            <a:ext cx="9465026" cy="3221534"/>
            <a:chOff x="838199" y="1442591"/>
            <a:chExt cx="9465026" cy="3221534"/>
          </a:xfrm>
        </p:grpSpPr>
        <p:grpSp>
          <p:nvGrpSpPr>
            <p:cNvPr id="11" name="グループ化 10">
              <a:extLst>
                <a:ext uri="{FF2B5EF4-FFF2-40B4-BE49-F238E27FC236}">
                  <a16:creationId xmlns:a16="http://schemas.microsoft.com/office/drawing/2014/main" id="{23E4DF44-BE0E-4104-B1CC-06F6AE3572B5}"/>
                </a:ext>
              </a:extLst>
            </p:cNvPr>
            <p:cNvGrpSpPr/>
            <p:nvPr/>
          </p:nvGrpSpPr>
          <p:grpSpPr>
            <a:xfrm>
              <a:off x="838199" y="1442591"/>
              <a:ext cx="4079063" cy="3221534"/>
              <a:chOff x="838199" y="1538288"/>
              <a:chExt cx="4079063" cy="3221534"/>
            </a:xfrm>
          </p:grpSpPr>
          <p:pic>
            <p:nvPicPr>
              <p:cNvPr id="3" name="図 2">
                <a:extLst>
                  <a:ext uri="{FF2B5EF4-FFF2-40B4-BE49-F238E27FC236}">
                    <a16:creationId xmlns:a16="http://schemas.microsoft.com/office/drawing/2014/main" id="{0ACD5AAF-B515-4058-B6D7-D519945BA446}"/>
                  </a:ext>
                </a:extLst>
              </p:cNvPr>
              <p:cNvPicPr>
                <a:picLocks noChangeAspect="1"/>
              </p:cNvPicPr>
              <p:nvPr/>
            </p:nvPicPr>
            <p:blipFill rotWithShape="1">
              <a:blip r:embed="rId4">
                <a:extLst>
                  <a:ext uri="{28A0092B-C50C-407E-A947-70E740481C1C}">
                    <a14:useLocalDpi xmlns:a14="http://schemas.microsoft.com/office/drawing/2010/main" val="0"/>
                  </a:ext>
                </a:extLst>
              </a:blip>
              <a:srcRect l="17156" t="14241" r="38976" b="26691"/>
              <a:stretch/>
            </p:blipFill>
            <p:spPr>
              <a:xfrm>
                <a:off x="838199" y="1538288"/>
                <a:ext cx="4079063" cy="3221534"/>
              </a:xfrm>
              <a:prstGeom prst="rect">
                <a:avLst/>
              </a:prstGeom>
            </p:spPr>
          </p:pic>
          <p:sp>
            <p:nvSpPr>
              <p:cNvPr id="10" name="正方形/長方形 9">
                <a:extLst>
                  <a:ext uri="{FF2B5EF4-FFF2-40B4-BE49-F238E27FC236}">
                    <a16:creationId xmlns:a16="http://schemas.microsoft.com/office/drawing/2014/main" id="{4AB72890-B2C0-41B5-A622-28CCBB247870}"/>
                  </a:ext>
                </a:extLst>
              </p:cNvPr>
              <p:cNvSpPr/>
              <p:nvPr/>
            </p:nvSpPr>
            <p:spPr>
              <a:xfrm>
                <a:off x="1419726" y="2286000"/>
                <a:ext cx="674545" cy="18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 name="テキスト ボックス 3">
              <a:extLst>
                <a:ext uri="{FF2B5EF4-FFF2-40B4-BE49-F238E27FC236}">
                  <a16:creationId xmlns:a16="http://schemas.microsoft.com/office/drawing/2014/main" id="{50146BD8-D252-4E88-9E3E-F6B80A914051}"/>
                </a:ext>
              </a:extLst>
            </p:cNvPr>
            <p:cNvSpPr txBox="1"/>
            <p:nvPr/>
          </p:nvSpPr>
          <p:spPr>
            <a:xfrm>
              <a:off x="4519680" y="2179670"/>
              <a:ext cx="5783545" cy="1107996"/>
            </a:xfrm>
            <a:prstGeom prst="rect">
              <a:avLst/>
            </a:prstGeom>
            <a:noFill/>
          </p:spPr>
          <p:txBody>
            <a:bodyPr wrap="square" rtlCol="0">
              <a:spAutoFit/>
            </a:bodyPr>
            <a:lstStyle/>
            <a:p>
              <a:r>
                <a:rPr lang="ja-JP" altLang="en-US" sz="2200" b="1" dirty="0">
                  <a:latin typeface="メイリオ" panose="020B0604030504040204" pitchFamily="50" charset="-128"/>
                  <a:ea typeface="メイリオ" panose="020B0604030504040204" pitchFamily="50" charset="-128"/>
                </a:rPr>
                <a:t>／</a:t>
              </a:r>
              <a:endParaRPr lang="en-US" altLang="ja-JP" sz="2200" b="1" dirty="0">
                <a:latin typeface="メイリオ" panose="020B0604030504040204" pitchFamily="50" charset="-128"/>
                <a:ea typeface="メイリオ" panose="020B0604030504040204" pitchFamily="50" charset="-128"/>
              </a:endParaRPr>
            </a:p>
            <a:p>
              <a:r>
                <a:rPr lang="ja-JP" altLang="en-US" sz="2200" b="1" dirty="0">
                  <a:latin typeface="メイリオ" panose="020B0604030504040204" pitchFamily="50" charset="-128"/>
                  <a:ea typeface="メイリオ" panose="020B0604030504040204" pitchFamily="50" charset="-128"/>
                </a:rPr>
                <a:t>店員さんのミスで</a:t>
              </a:r>
              <a:r>
                <a:rPr lang="ja-JP" altLang="en-US" sz="2200" b="1" dirty="0">
                  <a:solidFill>
                    <a:srgbClr val="FF0000"/>
                  </a:solidFill>
                  <a:latin typeface="メイリオ" panose="020B0604030504040204" pitchFamily="50" charset="-128"/>
                  <a:ea typeface="メイリオ" panose="020B0604030504040204" pitchFamily="50" charset="-128"/>
                </a:rPr>
                <a:t>お金を多く支払った</a:t>
              </a:r>
              <a:r>
                <a:rPr lang="ja-JP" altLang="en-US" sz="2200" b="1" dirty="0">
                  <a:latin typeface="メイリオ" panose="020B0604030504040204" pitchFamily="50" charset="-128"/>
                  <a:ea typeface="メイリオ" panose="020B0604030504040204" pitchFamily="50" charset="-128"/>
                </a:rPr>
                <a:t>（泣）</a:t>
              </a:r>
              <a:endParaRPr lang="en-US" altLang="ja-JP" sz="2200" b="1" dirty="0">
                <a:latin typeface="メイリオ" panose="020B0604030504040204" pitchFamily="50" charset="-128"/>
                <a:ea typeface="メイリオ" panose="020B0604030504040204" pitchFamily="50" charset="-128"/>
              </a:endParaRPr>
            </a:p>
            <a:p>
              <a:r>
                <a:rPr kumimoji="1" lang="ja-JP" altLang="en-US" sz="2200" b="1" dirty="0">
                  <a:latin typeface="メイリオ" panose="020B0604030504040204" pitchFamily="50" charset="-128"/>
                  <a:ea typeface="メイリオ" panose="020B0604030504040204" pitchFamily="50" charset="-128"/>
                </a:rPr>
                <a:t>＼</a:t>
              </a:r>
            </a:p>
          </p:txBody>
        </p:sp>
      </p:grpSp>
      <p:sp>
        <p:nvSpPr>
          <p:cNvPr id="6" name="正方形/長方形 5">
            <a:extLst>
              <a:ext uri="{FF2B5EF4-FFF2-40B4-BE49-F238E27FC236}">
                <a16:creationId xmlns:a16="http://schemas.microsoft.com/office/drawing/2014/main" id="{84A76937-7CA2-4D5D-9D0B-15FDB1BA7CC4}"/>
              </a:ext>
            </a:extLst>
          </p:cNvPr>
          <p:cNvSpPr/>
          <p:nvPr/>
        </p:nvSpPr>
        <p:spPr>
          <a:xfrm rot="21300000">
            <a:off x="594980" y="3371879"/>
            <a:ext cx="11002040" cy="1674299"/>
          </a:xfrm>
          <a:prstGeom prst="rect">
            <a:avLst/>
          </a:prstGeom>
          <a:solidFill>
            <a:schemeClr val="bg1"/>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b="1" dirty="0">
                <a:solidFill>
                  <a:srgbClr val="FF0000"/>
                </a:solidFill>
                <a:latin typeface="メイリオ" panose="020B0604030504040204" pitchFamily="50" charset="-128"/>
                <a:ea typeface="メイリオ" panose="020B0604030504040204" pitchFamily="50" charset="-128"/>
              </a:rPr>
              <a:t>ミスが起きているのも事実！</a:t>
            </a:r>
          </a:p>
        </p:txBody>
      </p:sp>
    </p:spTree>
    <p:extLst>
      <p:ext uri="{BB962C8B-B14F-4D97-AF65-F5344CB8AC3E}">
        <p14:creationId xmlns:p14="http://schemas.microsoft.com/office/powerpoint/2010/main" val="401392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0B5B528-32EB-4F8B-BE46-9E02AED2FFC3}"/>
              </a:ext>
            </a:extLst>
          </p:cNvPr>
          <p:cNvSpPr txBox="1"/>
          <p:nvPr/>
        </p:nvSpPr>
        <p:spPr>
          <a:xfrm>
            <a:off x="1715112" y="2767280"/>
            <a:ext cx="876177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4000" b="1" dirty="0">
                <a:latin typeface="メイリオ" panose="020B0604030504040204" pitchFamily="50" charset="-128"/>
                <a:ea typeface="メイリオ" panose="020B0604030504040204" pitchFamily="50" charset="-128"/>
              </a:rPr>
              <a:t>ケーキ屋さんの</a:t>
            </a:r>
            <a:endParaRPr lang="en-US" altLang="ja-JP" sz="4000" b="1" dirty="0">
              <a:latin typeface="メイリオ" panose="020B0604030504040204" pitchFamily="50" charset="-128"/>
              <a:ea typeface="メイリオ" panose="020B0604030504040204" pitchFamily="50" charset="-128"/>
            </a:endParaRPr>
          </a:p>
          <a:p>
            <a:pPr algn="ctr"/>
            <a:r>
              <a:rPr lang="ja-JP" altLang="en-US" sz="4000" b="1" dirty="0">
                <a:solidFill>
                  <a:srgbClr val="FF0000"/>
                </a:solidFill>
                <a:latin typeface="メイリオ" panose="020B0604030504040204" pitchFamily="50" charset="-128"/>
                <a:ea typeface="メイリオ" panose="020B0604030504040204" pitchFamily="50" charset="-128"/>
              </a:rPr>
              <a:t>会計計算を引き受ける</a:t>
            </a:r>
            <a:r>
              <a:rPr lang="ja-JP" altLang="en-US" sz="4000" b="1" dirty="0">
                <a:latin typeface="メイリオ" panose="020B0604030504040204" pitchFamily="50" charset="-128"/>
                <a:ea typeface="メイリオ" panose="020B0604030504040204" pitchFamily="50" charset="-128"/>
              </a:rPr>
              <a:t>アプリ！</a:t>
            </a:r>
            <a:endParaRPr lang="ja-JP" sz="4000" b="1" dirty="0">
              <a:latin typeface="メイリオ" panose="020B0604030504040204" pitchFamily="50" charset="-128"/>
              <a:ea typeface="メイリオ" panose="020B0604030504040204" pitchFamily="50" charset="-128"/>
            </a:endParaRPr>
          </a:p>
        </p:txBody>
      </p:sp>
      <p:sp>
        <p:nvSpPr>
          <p:cNvPr id="3" name="タイトル 2">
            <a:extLst>
              <a:ext uri="{FF2B5EF4-FFF2-40B4-BE49-F238E27FC236}">
                <a16:creationId xmlns:a16="http://schemas.microsoft.com/office/drawing/2014/main" id="{5A672911-B18A-4122-8B63-C97CC0561B03}"/>
              </a:ext>
            </a:extLst>
          </p:cNvPr>
          <p:cNvSpPr>
            <a:spLocks noGrp="1"/>
          </p:cNvSpPr>
          <p:nvPr>
            <p:ph type="title"/>
          </p:nvPr>
        </p:nvSpPr>
        <p:spPr/>
        <p:txBody>
          <a:bodyPr/>
          <a:lstStyle/>
          <a:p>
            <a:r>
              <a:rPr lang="ja-JP" altLang="en-US" b="1">
                <a:latin typeface="メイリオ"/>
                <a:ea typeface="メイリオ"/>
              </a:rPr>
              <a:t>開発した</a:t>
            </a:r>
            <a:r>
              <a:rPr lang="en-US" altLang="ja-JP" b="1" dirty="0">
                <a:latin typeface="メイリオ"/>
                <a:ea typeface="メイリオ"/>
              </a:rPr>
              <a:t>Web</a:t>
            </a:r>
            <a:r>
              <a:rPr lang="ja-JP" altLang="en-US" b="1">
                <a:latin typeface="メイリオ"/>
                <a:ea typeface="メイリオ"/>
              </a:rPr>
              <a:t>アプリケーションは</a:t>
            </a:r>
          </a:p>
        </p:txBody>
      </p:sp>
    </p:spTree>
    <p:extLst>
      <p:ext uri="{BB962C8B-B14F-4D97-AF65-F5344CB8AC3E}">
        <p14:creationId xmlns:p14="http://schemas.microsoft.com/office/powerpoint/2010/main" val="654448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0B1A5A-E8DB-48AC-898F-8EC4199E797E}"/>
              </a:ext>
            </a:extLst>
          </p:cNvPr>
          <p:cNvSpPr>
            <a:spLocks noGrp="1"/>
          </p:cNvSpPr>
          <p:nvPr>
            <p:ph type="title"/>
          </p:nvPr>
        </p:nvSpPr>
        <p:spPr/>
        <p:txBody>
          <a:bodyPr/>
          <a:lstStyle/>
          <a:p>
            <a:r>
              <a:rPr kumimoji="1" lang="ja-JP" altLang="en-US" b="1" dirty="0">
                <a:latin typeface="メイリオ" panose="020B0604030504040204" pitchFamily="50" charset="-128"/>
                <a:ea typeface="メイリオ" panose="020B0604030504040204" pitchFamily="50" charset="-128"/>
              </a:rPr>
              <a:t>実装した機能</a:t>
            </a:r>
          </a:p>
        </p:txBody>
      </p:sp>
      <p:sp>
        <p:nvSpPr>
          <p:cNvPr id="5" name="テキスト ボックス 4">
            <a:extLst>
              <a:ext uri="{FF2B5EF4-FFF2-40B4-BE49-F238E27FC236}">
                <a16:creationId xmlns:a16="http://schemas.microsoft.com/office/drawing/2014/main" id="{BEFF3832-0430-488F-8BAC-B9809384A19C}"/>
              </a:ext>
            </a:extLst>
          </p:cNvPr>
          <p:cNvSpPr txBox="1"/>
          <p:nvPr/>
        </p:nvSpPr>
        <p:spPr>
          <a:xfrm>
            <a:off x="838200" y="2635863"/>
            <a:ext cx="10901082"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3200" b="1" dirty="0">
                <a:latin typeface="メイリオ" panose="020B0604030504040204" pitchFamily="50" charset="-128"/>
                <a:ea typeface="メイリオ" panose="020B0604030504040204" pitchFamily="50" charset="-128"/>
              </a:rPr>
              <a:t>① 購入商品の種類・個数を画像認識で判定し、金額を計算</a:t>
            </a:r>
            <a:endParaRPr lang="en-US" altLang="ja-JP" sz="3200" b="1" dirty="0">
              <a:latin typeface="メイリオ" panose="020B0604030504040204" pitchFamily="50" charset="-128"/>
              <a:ea typeface="メイリオ" panose="020B0604030504040204" pitchFamily="50" charset="-128"/>
            </a:endParaRPr>
          </a:p>
          <a:p>
            <a:endParaRPr lang="en-US" altLang="ja-JP" sz="10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② 販売商品の登録・変更・削除</a:t>
            </a:r>
            <a:endParaRPr lang="en-US" altLang="ja-JP" sz="3200" b="1" dirty="0">
              <a:latin typeface="メイリオ" panose="020B0604030504040204" pitchFamily="50" charset="-128"/>
              <a:ea typeface="メイリオ" panose="020B0604030504040204" pitchFamily="50" charset="-128"/>
            </a:endParaRPr>
          </a:p>
          <a:p>
            <a:endParaRPr lang="en-US" altLang="ja-JP" sz="1000" b="1" dirty="0">
              <a:latin typeface="メイリオ" panose="020B0604030504040204" pitchFamily="50" charset="-128"/>
              <a:ea typeface="メイリオ" panose="020B0604030504040204" pitchFamily="50" charset="-128"/>
            </a:endParaRPr>
          </a:p>
          <a:p>
            <a:r>
              <a:rPr lang="ja-JP" altLang="en-US" sz="3200" b="1" dirty="0">
                <a:latin typeface="メイリオ"/>
                <a:ea typeface="メイリオ"/>
              </a:rPr>
              <a:t>③ 期間・商品名・一押し食材など条件をしての売上検索</a:t>
            </a:r>
            <a:endParaRPr lang="ja-JP" altLang="en-US" sz="32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3674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5">
                                            <p:txEl>
                                              <p:pRg st="0" end="0"/>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5">
                                            <p:txEl>
                                              <p:pRg st="2" end="2"/>
                                            </p:txEl>
                                          </p:spTgt>
                                        </p:tgtEl>
                                        <p:attrNameLst>
                                          <p:attrName>style.color</p:attrName>
                                        </p:attrNameLst>
                                      </p:cBhvr>
                                      <p:to>
                                        <a:srgbClr val="FF0000"/>
                                      </p:to>
                                    </p:animClr>
                                  </p:childTnLst>
                                </p:cTn>
                              </p:par>
                              <p:par>
                                <p:cTn id="11" presetID="3" presetClass="emph" presetSubtype="2" fill="hold" nodeType="withEffect">
                                  <p:stCondLst>
                                    <p:cond delay="0"/>
                                  </p:stCondLst>
                                  <p:childTnLst>
                                    <p:animClr clrSpc="rgb" dir="cw">
                                      <p:cBhvr override="childStyle">
                                        <p:cTn id="12" dur="10" fill="hold"/>
                                        <p:tgtEl>
                                          <p:spTgt spid="5">
                                            <p:txEl>
                                              <p:pRg st="0" end="0"/>
                                            </p:txEl>
                                          </p:spTgt>
                                        </p:tgtEl>
                                        <p:attrNameLst>
                                          <p:attrName>style.color</p:attrName>
                                        </p:attrNameLst>
                                      </p:cBhvr>
                                      <p:to>
                                        <a:srgbClr val="000000"/>
                                      </p:to>
                                    </p:animClr>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childTnLst>
                                    <p:animClr clrSpc="rgb" dir="cw">
                                      <p:cBhvr override="childStyle">
                                        <p:cTn id="16" dur="10" fill="hold"/>
                                        <p:tgtEl>
                                          <p:spTgt spid="5">
                                            <p:txEl>
                                              <p:pRg st="4" end="4"/>
                                            </p:txEl>
                                          </p:spTgt>
                                        </p:tgtEl>
                                        <p:attrNameLst>
                                          <p:attrName>style.color</p:attrName>
                                        </p:attrNameLst>
                                      </p:cBhvr>
                                      <p:to>
                                        <a:srgbClr val="FF0000"/>
                                      </p:to>
                                    </p:animClr>
                                  </p:childTnLst>
                                </p:cTn>
                              </p:par>
                              <p:par>
                                <p:cTn id="17" presetID="3" presetClass="emph" presetSubtype="2" fill="hold" nodeType="withEffect">
                                  <p:stCondLst>
                                    <p:cond delay="0"/>
                                  </p:stCondLst>
                                  <p:childTnLst>
                                    <p:animClr clrSpc="rgb" dir="cw">
                                      <p:cBhvr override="childStyle">
                                        <p:cTn id="18" dur="10" fill="hold"/>
                                        <p:tgtEl>
                                          <p:spTgt spid="5">
                                            <p:txEl>
                                              <p:pRg st="2" end="2"/>
                                            </p:txEl>
                                          </p:spTgt>
                                        </p:tgtEl>
                                        <p:attrNameLst>
                                          <p:attrName>style.color</p:attrName>
                                        </p:attrNameLst>
                                      </p:cBhvr>
                                      <p:to>
                                        <a:srgbClr val="000000"/>
                                      </p:to>
                                    </p:animClr>
                                  </p:childTnLst>
                                </p:cTn>
                              </p:par>
                              <p:par>
                                <p:cTn id="19" presetID="3" presetClass="emph" presetSubtype="2" fill="hold" nodeType="withEffect">
                                  <p:stCondLst>
                                    <p:cond delay="0"/>
                                  </p:stCondLst>
                                  <p:childTnLst>
                                    <p:animClr clrSpc="rgb" dir="cw">
                                      <p:cBhvr override="childStyle">
                                        <p:cTn id="20" dur="10" fill="hold"/>
                                        <p:tgtEl>
                                          <p:spTgt spid="5">
                                            <p:txEl>
                                              <p:pRg st="4" end="4"/>
                                            </p:txEl>
                                          </p:spTgt>
                                        </p:tgtEl>
                                        <p:attrNameLst>
                                          <p:attrName>style.color</p:attrName>
                                        </p:attrNameLst>
                                      </p:cBhvr>
                                      <p:to>
                                        <a:srgbClr val="0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タイトル 14">
            <a:extLst>
              <a:ext uri="{FF2B5EF4-FFF2-40B4-BE49-F238E27FC236}">
                <a16:creationId xmlns:a16="http://schemas.microsoft.com/office/drawing/2014/main" id="{C51DB092-2D54-46E4-9ED5-5BEAF98E7DEE}"/>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システム構成</a:t>
            </a:r>
          </a:p>
        </p:txBody>
      </p:sp>
      <p:grpSp>
        <p:nvGrpSpPr>
          <p:cNvPr id="59" name="グループ化 58">
            <a:extLst>
              <a:ext uri="{FF2B5EF4-FFF2-40B4-BE49-F238E27FC236}">
                <a16:creationId xmlns:a16="http://schemas.microsoft.com/office/drawing/2014/main" id="{DCD53AE5-AAB5-48DA-9F1E-01607C915153}"/>
              </a:ext>
            </a:extLst>
          </p:cNvPr>
          <p:cNvGrpSpPr/>
          <p:nvPr/>
        </p:nvGrpSpPr>
        <p:grpSpPr>
          <a:xfrm>
            <a:off x="6337521" y="885239"/>
            <a:ext cx="5359180" cy="5838089"/>
            <a:chOff x="6564171" y="898887"/>
            <a:chExt cx="5359180" cy="5838089"/>
          </a:xfrm>
        </p:grpSpPr>
        <p:pic>
          <p:nvPicPr>
            <p:cNvPr id="2" name="図 2" descr="モニター, 暗い, 座る, フロント が含まれている画像&#10;&#10;説明は自動で生成されたものです">
              <a:extLst>
                <a:ext uri="{FF2B5EF4-FFF2-40B4-BE49-F238E27FC236}">
                  <a16:creationId xmlns:a16="http://schemas.microsoft.com/office/drawing/2014/main" id="{FBDC177D-3C94-4D6E-99B2-381F2C22D040}"/>
                </a:ext>
              </a:extLst>
            </p:cNvPr>
            <p:cNvPicPr>
              <a:picLocks noChangeAspect="1"/>
            </p:cNvPicPr>
            <p:nvPr/>
          </p:nvPicPr>
          <p:blipFill>
            <a:blip r:embed="rId3"/>
            <a:stretch>
              <a:fillRect/>
            </a:stretch>
          </p:blipFill>
          <p:spPr>
            <a:xfrm>
              <a:off x="8249373" y="898887"/>
              <a:ext cx="1971675" cy="571500"/>
            </a:xfrm>
            <a:prstGeom prst="rect">
              <a:avLst/>
            </a:prstGeom>
          </p:spPr>
        </p:pic>
        <p:sp>
          <p:nvSpPr>
            <p:cNvPr id="16" name="四角形: 角を丸くする 15">
              <a:extLst>
                <a:ext uri="{FF2B5EF4-FFF2-40B4-BE49-F238E27FC236}">
                  <a16:creationId xmlns:a16="http://schemas.microsoft.com/office/drawing/2014/main" id="{28FC7A16-63C8-4B65-B131-E4C1A5E626BA}"/>
                </a:ext>
              </a:extLst>
            </p:cNvPr>
            <p:cNvSpPr/>
            <p:nvPr/>
          </p:nvSpPr>
          <p:spPr>
            <a:xfrm>
              <a:off x="6564171" y="1549451"/>
              <a:ext cx="5342080" cy="5187525"/>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8" name="グループ化 57">
              <a:extLst>
                <a:ext uri="{FF2B5EF4-FFF2-40B4-BE49-F238E27FC236}">
                  <a16:creationId xmlns:a16="http://schemas.microsoft.com/office/drawing/2014/main" id="{8195FEE6-FBD2-4E75-8D50-FC43977AC354}"/>
                </a:ext>
              </a:extLst>
            </p:cNvPr>
            <p:cNvGrpSpPr/>
            <p:nvPr/>
          </p:nvGrpSpPr>
          <p:grpSpPr>
            <a:xfrm>
              <a:off x="6817134" y="1538818"/>
              <a:ext cx="5106217" cy="4966495"/>
              <a:chOff x="6817134" y="1538818"/>
              <a:chExt cx="5106217" cy="4966495"/>
            </a:xfrm>
          </p:grpSpPr>
          <p:grpSp>
            <p:nvGrpSpPr>
              <p:cNvPr id="54" name="グループ化 53">
                <a:extLst>
                  <a:ext uri="{FF2B5EF4-FFF2-40B4-BE49-F238E27FC236}">
                    <a16:creationId xmlns:a16="http://schemas.microsoft.com/office/drawing/2014/main" id="{C4BA6140-6FCD-4688-AD90-4F4573669C6D}"/>
                  </a:ext>
                </a:extLst>
              </p:cNvPr>
              <p:cNvGrpSpPr/>
              <p:nvPr/>
            </p:nvGrpSpPr>
            <p:grpSpPr>
              <a:xfrm>
                <a:off x="9612691" y="2670218"/>
                <a:ext cx="2310660" cy="3708722"/>
                <a:chOff x="9612691" y="2670218"/>
                <a:chExt cx="2310660" cy="3708722"/>
              </a:xfrm>
            </p:grpSpPr>
            <p:grpSp>
              <p:nvGrpSpPr>
                <p:cNvPr id="50" name="グループ化 49">
                  <a:extLst>
                    <a:ext uri="{FF2B5EF4-FFF2-40B4-BE49-F238E27FC236}">
                      <a16:creationId xmlns:a16="http://schemas.microsoft.com/office/drawing/2014/main" id="{10D472BE-9717-4901-8981-12B5A27E3FDB}"/>
                    </a:ext>
                  </a:extLst>
                </p:cNvPr>
                <p:cNvGrpSpPr/>
                <p:nvPr/>
              </p:nvGrpSpPr>
              <p:grpSpPr>
                <a:xfrm>
                  <a:off x="9616685" y="2670218"/>
                  <a:ext cx="2170211" cy="1402956"/>
                  <a:chOff x="9616685" y="2670218"/>
                  <a:chExt cx="2170211" cy="1402956"/>
                </a:xfrm>
              </p:grpSpPr>
              <p:cxnSp>
                <p:nvCxnSpPr>
                  <p:cNvPr id="39" name="直線コネクタ 38">
                    <a:extLst>
                      <a:ext uri="{FF2B5EF4-FFF2-40B4-BE49-F238E27FC236}">
                        <a16:creationId xmlns:a16="http://schemas.microsoft.com/office/drawing/2014/main" id="{30D65EBA-B4FC-490D-930C-21C404D863E0}"/>
                      </a:ext>
                    </a:extLst>
                  </p:cNvPr>
                  <p:cNvCxnSpPr>
                    <a:cxnSpLocks/>
                  </p:cNvCxnSpPr>
                  <p:nvPr/>
                </p:nvCxnSpPr>
                <p:spPr>
                  <a:xfrm flipV="1">
                    <a:off x="9616685" y="3337589"/>
                    <a:ext cx="682339" cy="5074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グループ化 40">
                    <a:extLst>
                      <a:ext uri="{FF2B5EF4-FFF2-40B4-BE49-F238E27FC236}">
                        <a16:creationId xmlns:a16="http://schemas.microsoft.com/office/drawing/2014/main" id="{04D4F75B-E541-460C-9C16-B3BA94BAD715}"/>
                      </a:ext>
                    </a:extLst>
                  </p:cNvPr>
                  <p:cNvGrpSpPr/>
                  <p:nvPr/>
                </p:nvGrpSpPr>
                <p:grpSpPr>
                  <a:xfrm>
                    <a:off x="9936831" y="2670218"/>
                    <a:ext cx="1850065" cy="1402956"/>
                    <a:chOff x="9936831" y="2670218"/>
                    <a:chExt cx="1850065" cy="1402956"/>
                  </a:xfrm>
                </p:grpSpPr>
                <p:pic>
                  <p:nvPicPr>
                    <p:cNvPr id="4" name="図 4">
                      <a:extLst>
                        <a:ext uri="{FF2B5EF4-FFF2-40B4-BE49-F238E27FC236}">
                          <a16:creationId xmlns:a16="http://schemas.microsoft.com/office/drawing/2014/main" id="{D30DE7B0-3620-4A58-84C7-66408A6333F4}"/>
                        </a:ext>
                      </a:extLst>
                    </p:cNvPr>
                    <p:cNvPicPr>
                      <a:picLocks noChangeAspect="1"/>
                    </p:cNvPicPr>
                    <p:nvPr/>
                  </p:nvPicPr>
                  <p:blipFill rotWithShape="1">
                    <a:blip r:embed="rId4"/>
                    <a:srcRect l="1837" t="-3442" r="-1837" b="11201"/>
                    <a:stretch/>
                  </p:blipFill>
                  <p:spPr>
                    <a:xfrm>
                      <a:off x="10309414" y="2670218"/>
                      <a:ext cx="1104900" cy="1019175"/>
                    </a:xfrm>
                    <a:prstGeom prst="ellipse">
                      <a:avLst/>
                    </a:prstGeom>
                  </p:spPr>
                </p:pic>
                <p:sp>
                  <p:nvSpPr>
                    <p:cNvPr id="28" name="テキスト ボックス 27">
                      <a:extLst>
                        <a:ext uri="{FF2B5EF4-FFF2-40B4-BE49-F238E27FC236}">
                          <a16:creationId xmlns:a16="http://schemas.microsoft.com/office/drawing/2014/main" id="{A081BAFC-5CE5-44BF-B6B9-BFF79CE10542}"/>
                        </a:ext>
                      </a:extLst>
                    </p:cNvPr>
                    <p:cNvSpPr txBox="1"/>
                    <p:nvPr/>
                  </p:nvSpPr>
                  <p:spPr>
                    <a:xfrm>
                      <a:off x="9936831" y="3703842"/>
                      <a:ext cx="1850065" cy="369332"/>
                    </a:xfrm>
                    <a:prstGeom prst="rect">
                      <a:avLst/>
                    </a:prstGeom>
                    <a:noFill/>
                  </p:spPr>
                  <p:txBody>
                    <a:bodyPr wrap="square" rtlCol="0">
                      <a:spAutoFit/>
                    </a:bodyPr>
                    <a:lstStyle/>
                    <a:p>
                      <a:pPr algn="ctr"/>
                      <a:r>
                        <a:rPr kumimoji="1" lang="en-US" altLang="ja-JP" dirty="0">
                          <a:latin typeface="メイリオ" panose="020B0604030504040204" pitchFamily="50" charset="-128"/>
                          <a:ea typeface="メイリオ" panose="020B0604030504040204" pitchFamily="50" charset="-128"/>
                        </a:rPr>
                        <a:t>Custom Vision</a:t>
                      </a:r>
                    </a:p>
                  </p:txBody>
                </p:sp>
              </p:grpSp>
            </p:grpSp>
            <p:grpSp>
              <p:nvGrpSpPr>
                <p:cNvPr id="51" name="グループ化 50">
                  <a:extLst>
                    <a:ext uri="{FF2B5EF4-FFF2-40B4-BE49-F238E27FC236}">
                      <a16:creationId xmlns:a16="http://schemas.microsoft.com/office/drawing/2014/main" id="{F6ACFEB8-9150-4C62-8DC2-0BEC6F4C49CC}"/>
                    </a:ext>
                  </a:extLst>
                </p:cNvPr>
                <p:cNvGrpSpPr/>
                <p:nvPr/>
              </p:nvGrpSpPr>
              <p:grpSpPr>
                <a:xfrm>
                  <a:off x="9612691" y="4554971"/>
                  <a:ext cx="2310660" cy="1823969"/>
                  <a:chOff x="9612691" y="4554971"/>
                  <a:chExt cx="2310660" cy="1823969"/>
                </a:xfrm>
              </p:grpSpPr>
              <p:cxnSp>
                <p:nvCxnSpPr>
                  <p:cNvPr id="48" name="直線コネクタ 47">
                    <a:extLst>
                      <a:ext uri="{FF2B5EF4-FFF2-40B4-BE49-F238E27FC236}">
                        <a16:creationId xmlns:a16="http://schemas.microsoft.com/office/drawing/2014/main" id="{A624801D-B042-4A99-AE15-BC828EAEE6B3}"/>
                      </a:ext>
                    </a:extLst>
                  </p:cNvPr>
                  <p:cNvCxnSpPr>
                    <a:cxnSpLocks/>
                  </p:cNvCxnSpPr>
                  <p:nvPr/>
                </p:nvCxnSpPr>
                <p:spPr>
                  <a:xfrm>
                    <a:off x="9612691" y="4853676"/>
                    <a:ext cx="682339" cy="5074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グループ化 41">
                    <a:extLst>
                      <a:ext uri="{FF2B5EF4-FFF2-40B4-BE49-F238E27FC236}">
                        <a16:creationId xmlns:a16="http://schemas.microsoft.com/office/drawing/2014/main" id="{80752047-2927-4DAE-856D-A8EC5B2ED1F9}"/>
                      </a:ext>
                    </a:extLst>
                  </p:cNvPr>
                  <p:cNvGrpSpPr/>
                  <p:nvPr/>
                </p:nvGrpSpPr>
                <p:grpSpPr>
                  <a:xfrm>
                    <a:off x="9835864" y="4554971"/>
                    <a:ext cx="2087487" cy="1823969"/>
                    <a:chOff x="9835864" y="4554971"/>
                    <a:chExt cx="2087487" cy="1823969"/>
                  </a:xfrm>
                </p:grpSpPr>
                <p:pic>
                  <p:nvPicPr>
                    <p:cNvPr id="17" name="図 16">
                      <a:extLst>
                        <a:ext uri="{FF2B5EF4-FFF2-40B4-BE49-F238E27FC236}">
                          <a16:creationId xmlns:a16="http://schemas.microsoft.com/office/drawing/2014/main" id="{4900C46D-1505-437B-9981-9CD91DB525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3373" y="4554971"/>
                      <a:ext cx="1104900" cy="1104900"/>
                    </a:xfrm>
                    <a:prstGeom prst="rect">
                      <a:avLst/>
                    </a:prstGeom>
                  </p:spPr>
                </p:pic>
                <p:sp>
                  <p:nvSpPr>
                    <p:cNvPr id="30" name="テキスト ボックス 29">
                      <a:extLst>
                        <a:ext uri="{FF2B5EF4-FFF2-40B4-BE49-F238E27FC236}">
                          <a16:creationId xmlns:a16="http://schemas.microsoft.com/office/drawing/2014/main" id="{5A42DE10-862F-4CEA-B0D2-C6493EB33310}"/>
                        </a:ext>
                      </a:extLst>
                    </p:cNvPr>
                    <p:cNvSpPr txBox="1"/>
                    <p:nvPr/>
                  </p:nvSpPr>
                  <p:spPr>
                    <a:xfrm>
                      <a:off x="9835864" y="5732609"/>
                      <a:ext cx="2087487" cy="646331"/>
                    </a:xfrm>
                    <a:prstGeom prst="rect">
                      <a:avLst/>
                    </a:prstGeom>
                    <a:noFill/>
                  </p:spPr>
                  <p:txBody>
                    <a:bodyPr wrap="square" rtlCol="0">
                      <a:spAutoFit/>
                    </a:bodyPr>
                    <a:lstStyle/>
                    <a:p>
                      <a:pPr algn="ctr"/>
                      <a:r>
                        <a:rPr lang="en-US" altLang="ja-JP" b="0" i="0" dirty="0">
                          <a:solidFill>
                            <a:srgbClr val="333333"/>
                          </a:solidFill>
                          <a:effectLst/>
                          <a:latin typeface="メイリオ" panose="020B0604030504040204" pitchFamily="50" charset="-128"/>
                          <a:ea typeface="メイリオ" panose="020B0604030504040204" pitchFamily="50" charset="-128"/>
                        </a:rPr>
                        <a:t>Azure Database for MySQL</a:t>
                      </a:r>
                      <a:endParaRPr kumimoji="1" lang="en-US" altLang="ja-JP" dirty="0">
                        <a:latin typeface="メイリオ" panose="020B0604030504040204" pitchFamily="50" charset="-128"/>
                        <a:ea typeface="メイリオ" panose="020B0604030504040204" pitchFamily="50" charset="-128"/>
                      </a:endParaRPr>
                    </a:p>
                  </p:txBody>
                </p:sp>
              </p:grpSp>
            </p:grpSp>
          </p:grpSp>
          <p:grpSp>
            <p:nvGrpSpPr>
              <p:cNvPr id="57" name="グループ化 56">
                <a:extLst>
                  <a:ext uri="{FF2B5EF4-FFF2-40B4-BE49-F238E27FC236}">
                    <a16:creationId xmlns:a16="http://schemas.microsoft.com/office/drawing/2014/main" id="{2BCDE76F-5E0C-4871-A376-A8C00943746F}"/>
                  </a:ext>
                </a:extLst>
              </p:cNvPr>
              <p:cNvGrpSpPr/>
              <p:nvPr/>
            </p:nvGrpSpPr>
            <p:grpSpPr>
              <a:xfrm>
                <a:off x="6817134" y="1538818"/>
                <a:ext cx="2923434" cy="4966495"/>
                <a:chOff x="6817134" y="1538818"/>
                <a:chExt cx="2923434" cy="4966495"/>
              </a:xfrm>
            </p:grpSpPr>
            <p:sp>
              <p:nvSpPr>
                <p:cNvPr id="13" name="四角形: 角を丸くする 12">
                  <a:extLst>
                    <a:ext uri="{FF2B5EF4-FFF2-40B4-BE49-F238E27FC236}">
                      <a16:creationId xmlns:a16="http://schemas.microsoft.com/office/drawing/2014/main" id="{05663130-50F2-4BC4-9862-FD9FE15F3BFE}"/>
                    </a:ext>
                  </a:extLst>
                </p:cNvPr>
                <p:cNvSpPr/>
                <p:nvPr/>
              </p:nvSpPr>
              <p:spPr>
                <a:xfrm>
                  <a:off x="6817134" y="2539633"/>
                  <a:ext cx="2816308" cy="3965680"/>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dirty="0"/>
                </a:p>
              </p:txBody>
            </p:sp>
            <p:grpSp>
              <p:nvGrpSpPr>
                <p:cNvPr id="53" name="グループ化 52">
                  <a:extLst>
                    <a:ext uri="{FF2B5EF4-FFF2-40B4-BE49-F238E27FC236}">
                      <a16:creationId xmlns:a16="http://schemas.microsoft.com/office/drawing/2014/main" id="{A22B118B-BB6F-49F5-9032-F528E72E37EF}"/>
                    </a:ext>
                  </a:extLst>
                </p:cNvPr>
                <p:cNvGrpSpPr/>
                <p:nvPr/>
              </p:nvGrpSpPr>
              <p:grpSpPr>
                <a:xfrm>
                  <a:off x="6834234" y="1538818"/>
                  <a:ext cx="2906334" cy="4861539"/>
                  <a:chOff x="6834234" y="1538818"/>
                  <a:chExt cx="2906334" cy="4861539"/>
                </a:xfrm>
              </p:grpSpPr>
              <p:pic>
                <p:nvPicPr>
                  <p:cNvPr id="5" name="図 5" descr="記号, モニター, 画面, ノートパソコン が含まれている画像&#10;&#10;説明は自動で生成されたものです">
                    <a:extLst>
                      <a:ext uri="{FF2B5EF4-FFF2-40B4-BE49-F238E27FC236}">
                        <a16:creationId xmlns:a16="http://schemas.microsoft.com/office/drawing/2014/main" id="{D0EB807A-4251-489D-91E5-A296310CDFCE}"/>
                      </a:ext>
                    </a:extLst>
                  </p:cNvPr>
                  <p:cNvPicPr>
                    <a:picLocks noChangeAspect="1"/>
                  </p:cNvPicPr>
                  <p:nvPr/>
                </p:nvPicPr>
                <p:blipFill>
                  <a:blip r:embed="rId6"/>
                  <a:stretch>
                    <a:fillRect/>
                  </a:stretch>
                </p:blipFill>
                <p:spPr>
                  <a:xfrm>
                    <a:off x="7681533" y="1538818"/>
                    <a:ext cx="1019175" cy="1019175"/>
                  </a:xfrm>
                  <a:prstGeom prst="rect">
                    <a:avLst/>
                  </a:prstGeom>
                </p:spPr>
              </p:pic>
              <p:grpSp>
                <p:nvGrpSpPr>
                  <p:cNvPr id="52" name="グループ化 51">
                    <a:extLst>
                      <a:ext uri="{FF2B5EF4-FFF2-40B4-BE49-F238E27FC236}">
                        <a16:creationId xmlns:a16="http://schemas.microsoft.com/office/drawing/2014/main" id="{9E08C1A8-A653-4123-887B-AB83775776A2}"/>
                      </a:ext>
                    </a:extLst>
                  </p:cNvPr>
                  <p:cNvGrpSpPr/>
                  <p:nvPr/>
                </p:nvGrpSpPr>
                <p:grpSpPr>
                  <a:xfrm>
                    <a:off x="6834234" y="2505753"/>
                    <a:ext cx="2906334" cy="3894604"/>
                    <a:chOff x="6834234" y="2505753"/>
                    <a:chExt cx="2906334" cy="3894604"/>
                  </a:xfrm>
                </p:grpSpPr>
                <p:pic>
                  <p:nvPicPr>
                    <p:cNvPr id="7" name="図 7">
                      <a:extLst>
                        <a:ext uri="{FF2B5EF4-FFF2-40B4-BE49-F238E27FC236}">
                          <a16:creationId xmlns:a16="http://schemas.microsoft.com/office/drawing/2014/main" id="{EE47C720-53F1-4A64-A2CF-543EB3FC162D}"/>
                        </a:ext>
                      </a:extLst>
                    </p:cNvPr>
                    <p:cNvPicPr>
                      <a:picLocks noChangeAspect="1"/>
                    </p:cNvPicPr>
                    <p:nvPr/>
                  </p:nvPicPr>
                  <p:blipFill>
                    <a:blip r:embed="rId7"/>
                    <a:stretch>
                      <a:fillRect/>
                    </a:stretch>
                  </p:blipFill>
                  <p:spPr>
                    <a:xfrm>
                      <a:off x="8472512" y="3429157"/>
                      <a:ext cx="1011213" cy="614172"/>
                    </a:xfrm>
                    <a:prstGeom prst="ellipse">
                      <a:avLst/>
                    </a:prstGeom>
                  </p:spPr>
                </p:pic>
                <p:pic>
                  <p:nvPicPr>
                    <p:cNvPr id="8" name="図 8" descr="記号, 時計, 男, 選手 が含まれている画像&#10;&#10;説明は自動で生成されたものです">
                      <a:extLst>
                        <a:ext uri="{FF2B5EF4-FFF2-40B4-BE49-F238E27FC236}">
                          <a16:creationId xmlns:a16="http://schemas.microsoft.com/office/drawing/2014/main" id="{71794917-5F9F-4917-8CCB-29747468259B}"/>
                        </a:ext>
                      </a:extLst>
                    </p:cNvPr>
                    <p:cNvPicPr>
                      <a:picLocks noChangeAspect="1"/>
                    </p:cNvPicPr>
                    <p:nvPr/>
                  </p:nvPicPr>
                  <p:blipFill>
                    <a:blip r:embed="rId8"/>
                    <a:stretch>
                      <a:fillRect/>
                    </a:stretch>
                  </p:blipFill>
                  <p:spPr>
                    <a:xfrm>
                      <a:off x="8729355" y="2505753"/>
                      <a:ext cx="1011213" cy="1019175"/>
                    </a:xfrm>
                    <a:prstGeom prst="rect">
                      <a:avLst/>
                    </a:prstGeom>
                  </p:spPr>
                </p:pic>
                <p:pic>
                  <p:nvPicPr>
                    <p:cNvPr id="12" name="図 12">
                      <a:extLst>
                        <a:ext uri="{FF2B5EF4-FFF2-40B4-BE49-F238E27FC236}">
                          <a16:creationId xmlns:a16="http://schemas.microsoft.com/office/drawing/2014/main" id="{C528519E-2396-47E2-BC51-6E022C856B73}"/>
                        </a:ext>
                      </a:extLst>
                    </p:cNvPr>
                    <p:cNvPicPr>
                      <a:picLocks noChangeAspect="1"/>
                    </p:cNvPicPr>
                    <p:nvPr/>
                  </p:nvPicPr>
                  <p:blipFill>
                    <a:blip r:embed="rId9"/>
                    <a:stretch>
                      <a:fillRect/>
                    </a:stretch>
                  </p:blipFill>
                  <p:spPr>
                    <a:xfrm>
                      <a:off x="8877525" y="5610387"/>
                      <a:ext cx="610439" cy="789970"/>
                    </a:xfrm>
                    <a:prstGeom prst="rect">
                      <a:avLst/>
                    </a:prstGeom>
                  </p:spPr>
                </p:pic>
                <p:pic>
                  <p:nvPicPr>
                    <p:cNvPr id="11" name="図 11">
                      <a:extLst>
                        <a:ext uri="{FF2B5EF4-FFF2-40B4-BE49-F238E27FC236}">
                          <a16:creationId xmlns:a16="http://schemas.microsoft.com/office/drawing/2014/main" id="{9FA396CD-A57A-4D07-94AD-BF3DE19BB834}"/>
                        </a:ext>
                      </a:extLst>
                    </p:cNvPr>
                    <p:cNvPicPr>
                      <a:picLocks noChangeAspect="1"/>
                    </p:cNvPicPr>
                    <p:nvPr/>
                  </p:nvPicPr>
                  <p:blipFill rotWithShape="1">
                    <a:blip r:embed="rId10"/>
                    <a:srcRect l="15896" r="13047"/>
                    <a:stretch/>
                  </p:blipFill>
                  <p:spPr>
                    <a:xfrm>
                      <a:off x="8621439" y="4821190"/>
                      <a:ext cx="610438" cy="789969"/>
                    </a:xfrm>
                    <a:prstGeom prst="rect">
                      <a:avLst/>
                    </a:prstGeom>
                  </p:spPr>
                </p:pic>
                <p:pic>
                  <p:nvPicPr>
                    <p:cNvPr id="19" name="グラフィックス 18">
                      <a:extLst>
                        <a:ext uri="{FF2B5EF4-FFF2-40B4-BE49-F238E27FC236}">
                          <a16:creationId xmlns:a16="http://schemas.microsoft.com/office/drawing/2014/main" id="{49308484-D732-4389-81BB-5F7843F3339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17418" y="4283504"/>
                      <a:ext cx="1254892" cy="477938"/>
                    </a:xfrm>
                    <a:prstGeom prst="rect">
                      <a:avLst/>
                    </a:prstGeom>
                  </p:spPr>
                </p:pic>
                <p:grpSp>
                  <p:nvGrpSpPr>
                    <p:cNvPr id="27" name="グループ化 26">
                      <a:extLst>
                        <a:ext uri="{FF2B5EF4-FFF2-40B4-BE49-F238E27FC236}">
                          <a16:creationId xmlns:a16="http://schemas.microsoft.com/office/drawing/2014/main" id="{9F46BB0F-EEDF-46CA-94F0-8E7D99B21E0D}"/>
                        </a:ext>
                      </a:extLst>
                    </p:cNvPr>
                    <p:cNvGrpSpPr/>
                    <p:nvPr/>
                  </p:nvGrpSpPr>
                  <p:grpSpPr>
                    <a:xfrm>
                      <a:off x="6834234" y="2935091"/>
                      <a:ext cx="2192583" cy="3416320"/>
                      <a:chOff x="1680882" y="1724234"/>
                      <a:chExt cx="2755181" cy="3416320"/>
                    </a:xfrm>
                  </p:grpSpPr>
                  <p:sp>
                    <p:nvSpPr>
                      <p:cNvPr id="25" name="テキスト ボックス 24">
                        <a:extLst>
                          <a:ext uri="{FF2B5EF4-FFF2-40B4-BE49-F238E27FC236}">
                            <a16:creationId xmlns:a16="http://schemas.microsoft.com/office/drawing/2014/main" id="{5AB74C14-C595-4DE0-A824-1B9F6D885EF3}"/>
                          </a:ext>
                        </a:extLst>
                      </p:cNvPr>
                      <p:cNvSpPr txBox="1"/>
                      <p:nvPr/>
                    </p:nvSpPr>
                    <p:spPr>
                      <a:xfrm>
                        <a:off x="1680882" y="1724234"/>
                        <a:ext cx="2755181" cy="3416320"/>
                      </a:xfrm>
                      <a:prstGeom prst="rect">
                        <a:avLst/>
                      </a:prstGeom>
                      <a:noFill/>
                    </p:spPr>
                    <p:txBody>
                      <a:bodyPr wrap="square" lIns="91440" tIns="45720" rIns="91440" bIns="45720" rtlCol="0" anchor="t">
                        <a:spAutoFit/>
                      </a:bodyPr>
                      <a:lstStyle/>
                      <a:p>
                        <a:r>
                          <a:rPr kumimoji="1" lang="en-US" altLang="ja-JP" dirty="0">
                            <a:latin typeface="メイリオ"/>
                            <a:ea typeface="メイリオ"/>
                          </a:rPr>
                          <a:t>Laravel(</a:t>
                        </a:r>
                        <a:r>
                          <a:rPr kumimoji="1" lang="en-US" altLang="ja-JP" dirty="0" err="1">
                            <a:latin typeface="メイリオ"/>
                            <a:ea typeface="メイリオ"/>
                          </a:rPr>
                          <a:t>ver</a:t>
                        </a:r>
                        <a:r>
                          <a:rPr kumimoji="1" lang="ja-JP" altLang="en-US">
                            <a:latin typeface="メイリオ"/>
                            <a:ea typeface="メイリオ"/>
                          </a:rPr>
                          <a:t>：</a:t>
                        </a:r>
                        <a:r>
                          <a:rPr kumimoji="1" lang="en-US" altLang="ja-JP" dirty="0">
                            <a:latin typeface="メイリオ"/>
                            <a:ea typeface="メイリオ"/>
                          </a:rPr>
                          <a:t>5</a:t>
                        </a:r>
                        <a:r>
                          <a:rPr kumimoji="1" lang="ja-JP" altLang="en-US">
                            <a:latin typeface="メイリオ"/>
                            <a:ea typeface="メイリオ"/>
                          </a:rPr>
                          <a:t>系</a:t>
                        </a:r>
                        <a:r>
                          <a:rPr kumimoji="1" lang="en-US" altLang="ja-JP" dirty="0">
                            <a:latin typeface="メイリオ"/>
                            <a:ea typeface="メイリオ"/>
                          </a:rPr>
                          <a:t>)</a:t>
                        </a:r>
                      </a:p>
                      <a:p>
                        <a:r>
                          <a:rPr lang="ja-JP" altLang="en-US" dirty="0">
                            <a:latin typeface="メイリオ"/>
                            <a:ea typeface="メイリオ"/>
                          </a:rPr>
                          <a:t>    </a:t>
                        </a:r>
                        <a:r>
                          <a:rPr lang="en-US" altLang="ja-JP" dirty="0">
                            <a:latin typeface="メイリオ"/>
                            <a:ea typeface="メイリオ"/>
                          </a:rPr>
                          <a:t>PHP(</a:t>
                        </a:r>
                        <a:r>
                          <a:rPr lang="en-US" altLang="ja-JP" dirty="0" err="1">
                            <a:latin typeface="メイリオ"/>
                            <a:ea typeface="メイリオ"/>
                          </a:rPr>
                          <a:t>ver</a:t>
                        </a:r>
                        <a:r>
                          <a:rPr lang="ja-JP" altLang="en-US">
                            <a:latin typeface="メイリオ"/>
                            <a:ea typeface="メイリオ"/>
                          </a:rPr>
                          <a:t>：7.3</a:t>
                        </a:r>
                        <a:r>
                          <a:rPr lang="en-US" altLang="ja-JP" dirty="0">
                            <a:latin typeface="メイリオ"/>
                            <a:ea typeface="メイリオ"/>
                          </a:rPr>
                          <a:t>)</a:t>
                        </a:r>
                      </a:p>
                      <a:p>
                        <a:endParaRPr lang="en-US" altLang="ja-JP" dirty="0">
                          <a:latin typeface="メイリオ" panose="020B0604030504040204" pitchFamily="50" charset="-128"/>
                          <a:ea typeface="メイリオ" panose="020B0604030504040204" pitchFamily="50" charset="-128"/>
                        </a:endParaRPr>
                      </a:p>
                      <a:p>
                        <a:endParaRPr kumimoji="1" lang="en-US" altLang="ja-JP" dirty="0">
                          <a:latin typeface="メイリオ" panose="020B0604030504040204" pitchFamily="50" charset="-128"/>
                          <a:ea typeface="メイリオ" panose="020B0604030504040204" pitchFamily="50" charset="-128"/>
                        </a:endParaRPr>
                      </a:p>
                      <a:p>
                        <a:r>
                          <a:rPr lang="en-US" altLang="ja-JP" dirty="0">
                            <a:latin typeface="メイリオ"/>
                            <a:ea typeface="メイリオ"/>
                          </a:rPr>
                          <a:t>Apache(ver</a:t>
                        </a:r>
                        <a:r>
                          <a:rPr lang="ja-JP" altLang="en-US">
                            <a:latin typeface="メイリオ"/>
                            <a:ea typeface="メイリオ"/>
                          </a:rPr>
                          <a:t>：2.4</a:t>
                        </a:r>
                        <a:r>
                          <a:rPr lang="en-US" altLang="ja-JP" dirty="0">
                            <a:latin typeface="メイリオ"/>
                            <a:ea typeface="メイリオ"/>
                          </a:rPr>
                          <a:t>)</a:t>
                        </a:r>
                      </a:p>
                      <a:p>
                        <a:endParaRPr lang="en-US" altLang="ja-JP" dirty="0">
                          <a:latin typeface="メイリオ" panose="020B0604030504040204" pitchFamily="50" charset="-128"/>
                          <a:ea typeface="メイリオ" panose="020B0604030504040204" pitchFamily="50" charset="-128"/>
                        </a:endParaRPr>
                      </a:p>
                      <a:p>
                        <a:endParaRPr lang="en-US" altLang="ja-JP" dirty="0">
                          <a:latin typeface="メイリオ" panose="020B0604030504040204" pitchFamily="50" charset="-128"/>
                          <a:ea typeface="メイリオ" panose="020B0604030504040204" pitchFamily="50" charset="-128"/>
                        </a:endParaRPr>
                      </a:p>
                      <a:p>
                        <a:endParaRPr lang="en-US" altLang="ja-JP" dirty="0">
                          <a:latin typeface="メイリオ" panose="020B0604030504040204" pitchFamily="50" charset="-128"/>
                          <a:ea typeface="メイリオ" panose="020B0604030504040204" pitchFamily="50" charset="-128"/>
                        </a:endParaRPr>
                      </a:p>
                      <a:p>
                        <a:r>
                          <a:rPr kumimoji="1" lang="en-US" altLang="ja-JP" dirty="0">
                            <a:latin typeface="メイリオ"/>
                            <a:ea typeface="メイリオ"/>
                          </a:rPr>
                          <a:t>HTML</a:t>
                        </a:r>
                        <a:r>
                          <a:rPr lang="en-US" altLang="ja-JP" dirty="0">
                            <a:latin typeface="メイリオ"/>
                            <a:ea typeface="メイリオ"/>
                          </a:rPr>
                          <a:t>(</a:t>
                        </a:r>
                        <a:r>
                          <a:rPr lang="en-US" altLang="ja-JP" dirty="0" err="1">
                            <a:latin typeface="メイリオ"/>
                            <a:ea typeface="メイリオ"/>
                          </a:rPr>
                          <a:t>ver</a:t>
                        </a:r>
                        <a:r>
                          <a:rPr lang="ja-JP" altLang="en-US">
                            <a:latin typeface="メイリオ"/>
                            <a:ea typeface="メイリオ"/>
                          </a:rPr>
                          <a:t>：</a:t>
                        </a:r>
                        <a:r>
                          <a:rPr lang="en-US" altLang="ja-JP" dirty="0">
                            <a:latin typeface="メイリオ"/>
                            <a:ea typeface="メイリオ"/>
                          </a:rPr>
                          <a:t>5)</a:t>
                        </a:r>
                      </a:p>
                      <a:p>
                        <a:endParaRPr lang="en-US" altLang="ja-JP" dirty="0">
                          <a:latin typeface="メイリオ" panose="020B0604030504040204" pitchFamily="50" charset="-128"/>
                          <a:ea typeface="メイリオ" panose="020B0604030504040204" pitchFamily="50" charset="-128"/>
                        </a:endParaRPr>
                      </a:p>
                      <a:p>
                        <a:endParaRPr kumimoji="1" lang="en-US" altLang="ja-JP" dirty="0">
                          <a:latin typeface="メイリオ" panose="020B0604030504040204" pitchFamily="50" charset="-128"/>
                          <a:ea typeface="メイリオ" panose="020B0604030504040204" pitchFamily="50" charset="-128"/>
                        </a:endParaRPr>
                      </a:p>
                      <a:p>
                        <a:r>
                          <a:rPr lang="en-US" altLang="ja-JP" dirty="0">
                            <a:latin typeface="メイリオ"/>
                            <a:ea typeface="メイリオ"/>
                          </a:rPr>
                          <a:t>CSS(</a:t>
                        </a:r>
                        <a:r>
                          <a:rPr lang="en-US" altLang="ja-JP" dirty="0" err="1">
                            <a:latin typeface="メイリオ"/>
                            <a:ea typeface="メイリオ"/>
                          </a:rPr>
                          <a:t>ver</a:t>
                        </a:r>
                        <a:r>
                          <a:rPr lang="ja-JP" altLang="en-US">
                            <a:latin typeface="メイリオ"/>
                            <a:ea typeface="メイリオ"/>
                          </a:rPr>
                          <a:t>：</a:t>
                        </a:r>
                        <a:r>
                          <a:rPr lang="en-US" altLang="ja-JP" dirty="0">
                            <a:latin typeface="メイリオ"/>
                            <a:ea typeface="メイリオ"/>
                          </a:rPr>
                          <a:t>3)</a:t>
                        </a:r>
                      </a:p>
                    </p:txBody>
                  </p:sp>
                  <p:sp>
                    <p:nvSpPr>
                      <p:cNvPr id="26" name="テキスト ボックス 25">
                        <a:extLst>
                          <a:ext uri="{FF2B5EF4-FFF2-40B4-BE49-F238E27FC236}">
                            <a16:creationId xmlns:a16="http://schemas.microsoft.com/office/drawing/2014/main" id="{868682F4-BE6C-4BC3-A845-F60ECEB1098D}"/>
                          </a:ext>
                        </a:extLst>
                      </p:cNvPr>
                      <p:cNvSpPr txBox="1"/>
                      <p:nvPr/>
                    </p:nvSpPr>
                    <p:spPr>
                      <a:xfrm>
                        <a:off x="1723414" y="1945030"/>
                        <a:ext cx="430931" cy="369332"/>
                      </a:xfrm>
                      <a:prstGeom prst="rect">
                        <a:avLst/>
                      </a:prstGeom>
                      <a:noFill/>
                    </p:spPr>
                    <p:txBody>
                      <a:bodyPr wrap="square" rtlCol="0">
                        <a:spAutoFit/>
                      </a:bodyPr>
                      <a:lstStyle/>
                      <a:p>
                        <a:r>
                          <a:rPr kumimoji="1" lang="ja-JP" altLang="en-US" dirty="0">
                            <a:latin typeface="メイリオ" panose="020B0604030504040204" pitchFamily="50" charset="-128"/>
                            <a:ea typeface="メイリオ" panose="020B0604030504040204" pitchFamily="50" charset="-128"/>
                          </a:rPr>
                          <a:t>∟</a:t>
                        </a:r>
                      </a:p>
                    </p:txBody>
                  </p:sp>
                </p:grpSp>
              </p:grpSp>
            </p:grpSp>
          </p:grpSp>
        </p:grpSp>
      </p:grpSp>
      <p:cxnSp>
        <p:nvCxnSpPr>
          <p:cNvPr id="32" name="直線コネクタ 31">
            <a:extLst>
              <a:ext uri="{FF2B5EF4-FFF2-40B4-BE49-F238E27FC236}">
                <a16:creationId xmlns:a16="http://schemas.microsoft.com/office/drawing/2014/main" id="{BA2DDFD3-B050-40D7-B527-FB29EDEDD2E3}"/>
              </a:ext>
            </a:extLst>
          </p:cNvPr>
          <p:cNvCxnSpPr>
            <a:cxnSpLocks/>
          </p:cNvCxnSpPr>
          <p:nvPr/>
        </p:nvCxnSpPr>
        <p:spPr>
          <a:xfrm>
            <a:off x="2683042" y="4073174"/>
            <a:ext cx="39074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 name="グループ化 59">
            <a:extLst>
              <a:ext uri="{FF2B5EF4-FFF2-40B4-BE49-F238E27FC236}">
                <a16:creationId xmlns:a16="http://schemas.microsoft.com/office/drawing/2014/main" id="{1DFE247D-5386-4D31-A859-257672B404C4}"/>
              </a:ext>
            </a:extLst>
          </p:cNvPr>
          <p:cNvGrpSpPr/>
          <p:nvPr/>
        </p:nvGrpSpPr>
        <p:grpSpPr>
          <a:xfrm>
            <a:off x="796709" y="2752406"/>
            <a:ext cx="2286000" cy="2463768"/>
            <a:chOff x="796709" y="2752406"/>
            <a:chExt cx="2286000" cy="2463768"/>
          </a:xfrm>
        </p:grpSpPr>
        <p:pic>
          <p:nvPicPr>
            <p:cNvPr id="23" name="図 22">
              <a:extLst>
                <a:ext uri="{FF2B5EF4-FFF2-40B4-BE49-F238E27FC236}">
                  <a16:creationId xmlns:a16="http://schemas.microsoft.com/office/drawing/2014/main" id="{4B5C1BEE-1C21-4AEF-A6C6-21A813C6FCD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96709" y="2930174"/>
              <a:ext cx="2286000" cy="2286000"/>
            </a:xfrm>
            <a:prstGeom prst="rect">
              <a:avLst/>
            </a:prstGeom>
          </p:spPr>
        </p:pic>
        <p:sp>
          <p:nvSpPr>
            <p:cNvPr id="49" name="テキスト ボックス 48">
              <a:extLst>
                <a:ext uri="{FF2B5EF4-FFF2-40B4-BE49-F238E27FC236}">
                  <a16:creationId xmlns:a16="http://schemas.microsoft.com/office/drawing/2014/main" id="{B7E226F0-A196-42BC-87CE-2750666FC5BD}"/>
                </a:ext>
              </a:extLst>
            </p:cNvPr>
            <p:cNvSpPr txBox="1"/>
            <p:nvPr/>
          </p:nvSpPr>
          <p:spPr>
            <a:xfrm>
              <a:off x="1103514" y="2752406"/>
              <a:ext cx="1672389" cy="369332"/>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クライアント</a:t>
              </a:r>
            </a:p>
          </p:txBody>
        </p:sp>
      </p:grpSp>
      <p:sp>
        <p:nvSpPr>
          <p:cNvPr id="61" name="テキスト ボックス 60">
            <a:extLst>
              <a:ext uri="{FF2B5EF4-FFF2-40B4-BE49-F238E27FC236}">
                <a16:creationId xmlns:a16="http://schemas.microsoft.com/office/drawing/2014/main" id="{5FD642C6-CD85-4F1E-BE35-B5BF593779FC}"/>
              </a:ext>
            </a:extLst>
          </p:cNvPr>
          <p:cNvSpPr txBox="1"/>
          <p:nvPr/>
        </p:nvSpPr>
        <p:spPr>
          <a:xfrm>
            <a:off x="3413200" y="3703842"/>
            <a:ext cx="2740575" cy="369332"/>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利用ブラウザ：</a:t>
            </a:r>
            <a:r>
              <a:rPr kumimoji="1" lang="en-US" altLang="ja-JP" dirty="0">
                <a:latin typeface="メイリオ" panose="020B0604030504040204" pitchFamily="50" charset="-128"/>
                <a:ea typeface="メイリオ" panose="020B0604030504040204" pitchFamily="50" charset="-128"/>
              </a:rPr>
              <a:t>Chrome</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83346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8E4E54-7CFF-4369-BB5E-007BC9E1FB68}"/>
              </a:ext>
            </a:extLst>
          </p:cNvPr>
          <p:cNvSpPr>
            <a:spLocks noGrp="1"/>
          </p:cNvSpPr>
          <p:nvPr>
            <p:ph type="title"/>
          </p:nvPr>
        </p:nvSpPr>
        <p:spPr>
          <a:xfrm>
            <a:off x="3153335" y="2766218"/>
            <a:ext cx="5885329" cy="1325563"/>
          </a:xfrm>
        </p:spPr>
        <p:txBody>
          <a:bodyPr>
            <a:normAutofit/>
          </a:bodyPr>
          <a:lstStyle/>
          <a:p>
            <a:pPr algn="ctr"/>
            <a:r>
              <a:rPr kumimoji="1" lang="ja-JP" altLang="en-US" sz="4000" b="1" dirty="0">
                <a:latin typeface="メイリオ" panose="020B0604030504040204" pitchFamily="50" charset="-128"/>
                <a:ea typeface="メイリオ" panose="020B0604030504040204" pitchFamily="50" charset="-128"/>
              </a:rPr>
              <a:t>デモンストレーション</a:t>
            </a:r>
          </a:p>
        </p:txBody>
      </p:sp>
    </p:spTree>
    <p:extLst>
      <p:ext uri="{BB962C8B-B14F-4D97-AF65-F5344CB8AC3E}">
        <p14:creationId xmlns:p14="http://schemas.microsoft.com/office/powerpoint/2010/main" val="683103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5A99874-CD90-43C4-B479-8B01FBD1639B}"/>
              </a:ext>
            </a:extLst>
          </p:cNvPr>
          <p:cNvSpPr txBox="1"/>
          <p:nvPr/>
        </p:nvSpPr>
        <p:spPr>
          <a:xfrm>
            <a:off x="838200" y="2067206"/>
            <a:ext cx="10887634"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3200" b="1">
                <a:latin typeface="メイリオ"/>
                <a:ea typeface="メイリオ"/>
              </a:rPr>
              <a:t>開発当初は初めてAI技術を利用するということでワクワクした。しかし開発を進めていくほど、CustomVisionでの画像認識の方法・結果情報の送信など問題が山積みになり、開発の沼にズルズルと呑まれてしまった。</a:t>
            </a:r>
            <a:endParaRPr lang="en-US" altLang="ja-JP" sz="3200" b="1">
              <a:latin typeface="メイリオ"/>
              <a:ea typeface="メイリオ"/>
            </a:endParaRPr>
          </a:p>
          <a:p>
            <a:pPr algn="l"/>
            <a:r>
              <a:rPr lang="ja-JP" altLang="en-US" sz="3200" b="1">
                <a:latin typeface="メイリオ"/>
                <a:ea typeface="メイリオ"/>
              </a:rPr>
              <a:t>開発中盤から詰みに近い状態だったが、機能を分割して考え作業をしたことで、完璧とは言えないが予定していた機能まで実装できた。</a:t>
            </a:r>
          </a:p>
          <a:p>
            <a:endParaRPr lang="ja-JP" altLang="en-US" sz="3200" b="1" dirty="0">
              <a:latin typeface="メイリオ" panose="020B0604030504040204" pitchFamily="50" charset="-128"/>
              <a:ea typeface="メイリオ" panose="020B0604030504040204" pitchFamily="50" charset="-128"/>
            </a:endParaRPr>
          </a:p>
        </p:txBody>
      </p:sp>
      <p:sp>
        <p:nvSpPr>
          <p:cNvPr id="3" name="タイトル 2">
            <a:extLst>
              <a:ext uri="{FF2B5EF4-FFF2-40B4-BE49-F238E27FC236}">
                <a16:creationId xmlns:a16="http://schemas.microsoft.com/office/drawing/2014/main" id="{122E46A7-1F4D-4413-A50A-04F4A84F5A91}"/>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開発を通しての所感</a:t>
            </a:r>
          </a:p>
        </p:txBody>
      </p:sp>
    </p:spTree>
    <p:extLst>
      <p:ext uri="{BB962C8B-B14F-4D97-AF65-F5344CB8AC3E}">
        <p14:creationId xmlns:p14="http://schemas.microsoft.com/office/powerpoint/2010/main" val="3427737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64A2AE4-02E5-445C-9B89-786707DA4288}"/>
              </a:ext>
            </a:extLst>
          </p:cNvPr>
          <p:cNvSpPr txBox="1"/>
          <p:nvPr/>
        </p:nvSpPr>
        <p:spPr>
          <a:xfrm>
            <a:off x="838200" y="2072495"/>
            <a:ext cx="11353800"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3200" b="1">
                <a:latin typeface="メイリオ"/>
                <a:ea typeface="メイリオ"/>
              </a:rPr>
              <a:t>①顧客の要望から商品数や種類を絞り、商品提案の機能</a:t>
            </a:r>
            <a:endParaRPr lang="en-US" altLang="ja-JP" sz="3200" b="1">
              <a:latin typeface="メイリオ"/>
              <a:ea typeface="メイリオ"/>
            </a:endParaRPr>
          </a:p>
          <a:p>
            <a:r>
              <a:rPr lang="ja-JP" altLang="en-US" sz="3200" b="1">
                <a:latin typeface="メイリオ"/>
                <a:ea typeface="メイリオ"/>
              </a:rPr>
              <a:t>　⇒店員の商品提案に関する負担減を図る</a:t>
            </a:r>
            <a:endParaRPr lang="en-US" altLang="ja-JP" sz="3200" b="1">
              <a:latin typeface="メイリオ"/>
              <a:ea typeface="メイリオ"/>
            </a:endParaRPr>
          </a:p>
          <a:p>
            <a:endParaRPr lang="ja-JP" altLang="en-US" sz="1000" b="1" dirty="0">
              <a:latin typeface="メイリオ" panose="020B0604030504040204" pitchFamily="50" charset="-128"/>
              <a:ea typeface="メイリオ" panose="020B0604030504040204" pitchFamily="50" charset="-128"/>
            </a:endParaRPr>
          </a:p>
          <a:p>
            <a:r>
              <a:rPr lang="ja-JP" altLang="en-US" sz="3200" b="1">
                <a:latin typeface="メイリオ"/>
                <a:ea typeface="メイリオ"/>
              </a:rPr>
              <a:t>②在庫が少ない商品の告知機能</a:t>
            </a:r>
            <a:endParaRPr lang="en-US" altLang="ja-JP" sz="3200" b="1">
              <a:latin typeface="メイリオ"/>
              <a:ea typeface="メイリオ"/>
            </a:endParaRPr>
          </a:p>
          <a:p>
            <a:r>
              <a:rPr lang="ja-JP" altLang="en-US" sz="3200" b="1" dirty="0">
                <a:latin typeface="メイリオ" panose="020B0604030504040204" pitchFamily="50" charset="-128"/>
                <a:ea typeface="メイリオ" panose="020B0604030504040204" pitchFamily="50" charset="-128"/>
              </a:rPr>
              <a:t>　⇒迅速な商品補充の実現</a:t>
            </a:r>
            <a:endParaRPr lang="en-US" altLang="ja-JP" sz="3200" b="1" dirty="0">
              <a:latin typeface="メイリオ" panose="020B0604030504040204" pitchFamily="50" charset="-128"/>
              <a:ea typeface="メイリオ" panose="020B0604030504040204" pitchFamily="50" charset="-128"/>
            </a:endParaRPr>
          </a:p>
          <a:p>
            <a:endParaRPr lang="ja-JP" sz="1000" b="1" dirty="0">
              <a:latin typeface="メイリオ" panose="020B0604030504040204" pitchFamily="50" charset="-128"/>
              <a:ea typeface="メイリオ" panose="020B0604030504040204" pitchFamily="50" charset="-128"/>
            </a:endParaRPr>
          </a:p>
          <a:p>
            <a:r>
              <a:rPr lang="ja-JP" altLang="en-US" sz="3200" b="1">
                <a:latin typeface="メイリオ"/>
                <a:ea typeface="メイリオ"/>
              </a:rPr>
              <a:t>③時間帯ごとの売上を記録する機能</a:t>
            </a:r>
            <a:endParaRPr lang="en-US" altLang="ja-JP" sz="3200" b="1">
              <a:latin typeface="メイリオ"/>
              <a:ea typeface="メイリオ"/>
            </a:endParaRPr>
          </a:p>
          <a:p>
            <a:r>
              <a:rPr lang="ja-JP" altLang="en-US" sz="3200" b="1">
                <a:latin typeface="メイリオ"/>
                <a:ea typeface="メイリオ"/>
              </a:rPr>
              <a:t>　⇒</a:t>
            </a:r>
            <a:r>
              <a:rPr lang="ja-JP" altLang="en-US" sz="3200" b="1">
                <a:latin typeface="メイリオ"/>
                <a:ea typeface="メイリオ"/>
                <a:cs typeface="+mn-lt"/>
              </a:rPr>
              <a:t>売上</a:t>
            </a:r>
            <a:r>
              <a:rPr lang="ja-JP" sz="3200" b="1">
                <a:ea typeface="+mn-lt"/>
                <a:cs typeface="+mn-lt"/>
              </a:rPr>
              <a:t>商品数を参考に</a:t>
            </a:r>
            <a:r>
              <a:rPr lang="ja-JP" altLang="en-US" sz="3200" b="1">
                <a:latin typeface="メイリオ"/>
                <a:ea typeface="メイリオ"/>
              </a:rPr>
              <a:t>商品の廃棄数減を図る</a:t>
            </a:r>
            <a:endParaRPr lang="en-US" altLang="ja-JP" sz="3200" b="1" dirty="0">
              <a:latin typeface="メイリオ" panose="020B0604030504040204" pitchFamily="50" charset="-128"/>
              <a:ea typeface="メイリオ" panose="020B0604030504040204" pitchFamily="50" charset="-128"/>
            </a:endParaRPr>
          </a:p>
          <a:p>
            <a:endParaRPr lang="ja-JP" altLang="en-US" sz="1000" b="1" dirty="0">
              <a:latin typeface="メイリオ" panose="020B0604030504040204" pitchFamily="50" charset="-128"/>
              <a:ea typeface="メイリオ" panose="020B0604030504040204" pitchFamily="50" charset="-128"/>
            </a:endParaRPr>
          </a:p>
          <a:p>
            <a:r>
              <a:rPr lang="ja-JP" altLang="en-US" sz="3200" b="1">
                <a:latin typeface="メイリオ"/>
                <a:ea typeface="メイリオ"/>
              </a:rPr>
              <a:t>④商品予約情報の管理機能</a:t>
            </a:r>
            <a:endParaRPr lang="en-US" altLang="ja-JP" sz="3200" b="1" dirty="0">
              <a:latin typeface="メイリオ" panose="020B0604030504040204" pitchFamily="50" charset="-128"/>
              <a:ea typeface="メイリオ" panose="020B0604030504040204" pitchFamily="50" charset="-128"/>
            </a:endParaRPr>
          </a:p>
          <a:p>
            <a:r>
              <a:rPr lang="ja-JP" altLang="en-US" sz="3200" b="1">
                <a:latin typeface="メイリオ"/>
                <a:ea typeface="メイリオ"/>
              </a:rPr>
              <a:t>　⇒材料の発注管理を容易にする</a:t>
            </a:r>
          </a:p>
        </p:txBody>
      </p:sp>
      <p:sp>
        <p:nvSpPr>
          <p:cNvPr id="2" name="タイトル 1">
            <a:extLst>
              <a:ext uri="{FF2B5EF4-FFF2-40B4-BE49-F238E27FC236}">
                <a16:creationId xmlns:a16="http://schemas.microsoft.com/office/drawing/2014/main" id="{DC5F44FF-A267-449A-9C0A-AED84F93D2FF}"/>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今後の展望</a:t>
            </a:r>
          </a:p>
        </p:txBody>
      </p:sp>
    </p:spTree>
    <p:extLst>
      <p:ext uri="{BB962C8B-B14F-4D97-AF65-F5344CB8AC3E}">
        <p14:creationId xmlns:p14="http://schemas.microsoft.com/office/powerpoint/2010/main" val="343561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3">
                                            <p:txEl>
                                              <p:pRg st="0" end="0"/>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3">
                                            <p:txEl>
                                              <p:pRg st="1" end="1"/>
                                            </p:txEl>
                                          </p:spTgt>
                                        </p:tgtEl>
                                        <p:attrNameLst>
                                          <p:attrName>style.color</p:attrName>
                                        </p:attrNameLst>
                                      </p:cBhvr>
                                      <p:to>
                                        <a:srgbClr val="FF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 fill="hold"/>
                                        <p:tgtEl>
                                          <p:spTgt spid="3">
                                            <p:txEl>
                                              <p:pRg st="3" end="3"/>
                                            </p:txEl>
                                          </p:spTgt>
                                        </p:tgtEl>
                                        <p:attrNameLst>
                                          <p:attrName>style.color</p:attrName>
                                        </p:attrNameLst>
                                      </p:cBhvr>
                                      <p:to>
                                        <a:srgbClr val="FF0000"/>
                                      </p:to>
                                    </p:animClr>
                                  </p:childTnLst>
                                </p:cTn>
                              </p:par>
                              <p:par>
                                <p:cTn id="15" presetID="3" presetClass="emph" presetSubtype="2" fill="hold" nodeType="withEffect">
                                  <p:stCondLst>
                                    <p:cond delay="0"/>
                                  </p:stCondLst>
                                  <p:childTnLst>
                                    <p:animClr clrSpc="rgb" dir="cw">
                                      <p:cBhvr override="childStyle">
                                        <p:cTn id="16" dur="10" fill="hold"/>
                                        <p:tgtEl>
                                          <p:spTgt spid="3">
                                            <p:txEl>
                                              <p:pRg st="0" end="0"/>
                                            </p:txEl>
                                          </p:spTgt>
                                        </p:tgtEl>
                                        <p:attrNameLst>
                                          <p:attrName>style.color</p:attrName>
                                        </p:attrNameLst>
                                      </p:cBhvr>
                                      <p:to>
                                        <a:srgbClr val="000000"/>
                                      </p:to>
                                    </p:animClr>
                                  </p:childTnLst>
                                </p:cTn>
                              </p:par>
                              <p:par>
                                <p:cTn id="17" presetID="3" presetClass="emph" presetSubtype="2" fill="hold" nodeType="withEffect">
                                  <p:stCondLst>
                                    <p:cond delay="0"/>
                                  </p:stCondLst>
                                  <p:childTnLst>
                                    <p:animClr clrSpc="rgb" dir="cw">
                                      <p:cBhvr override="childStyle">
                                        <p:cTn id="18" dur="10" fill="hold"/>
                                        <p:tgtEl>
                                          <p:spTgt spid="3">
                                            <p:txEl>
                                              <p:pRg st="1" end="1"/>
                                            </p:txEl>
                                          </p:spTgt>
                                        </p:tgtEl>
                                        <p:attrNameLst>
                                          <p:attrName>style.color</p:attrName>
                                        </p:attrNameLst>
                                      </p:cBhvr>
                                      <p:to>
                                        <a:srgbClr val="00000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10" fill="hold"/>
                                        <p:tgtEl>
                                          <p:spTgt spid="3">
                                            <p:txEl>
                                              <p:pRg st="4" end="4"/>
                                            </p:txEl>
                                          </p:spTgt>
                                        </p:tgtEl>
                                        <p:attrNameLst>
                                          <p:attrName>style.color</p:attrName>
                                        </p:attrNameLst>
                                      </p:cBhvr>
                                      <p:to>
                                        <a:srgbClr val="FF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10" fill="hold"/>
                                        <p:tgtEl>
                                          <p:spTgt spid="3">
                                            <p:txEl>
                                              <p:pRg st="6" end="6"/>
                                            </p:txEl>
                                          </p:spTgt>
                                        </p:tgtEl>
                                        <p:attrNameLst>
                                          <p:attrName>style.color</p:attrName>
                                        </p:attrNameLst>
                                      </p:cBhvr>
                                      <p:to>
                                        <a:srgbClr val="FF0000"/>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10" fill="hold"/>
                                        <p:tgtEl>
                                          <p:spTgt spid="3">
                                            <p:txEl>
                                              <p:pRg st="7" end="7"/>
                                            </p:txEl>
                                          </p:spTgt>
                                        </p:tgtEl>
                                        <p:attrNameLst>
                                          <p:attrName>style.color</p:attrName>
                                        </p:attrNameLst>
                                      </p:cBhvr>
                                      <p:to>
                                        <a:srgbClr val="FF0000"/>
                                      </p:to>
                                    </p:animClr>
                                  </p:childTnLst>
                                </p:cTn>
                              </p:par>
                              <p:par>
                                <p:cTn id="31" presetID="3" presetClass="emph" presetSubtype="2" fill="hold" nodeType="withEffect">
                                  <p:stCondLst>
                                    <p:cond delay="0"/>
                                  </p:stCondLst>
                                  <p:childTnLst>
                                    <p:animClr clrSpc="rgb" dir="cw">
                                      <p:cBhvr override="childStyle">
                                        <p:cTn id="32" dur="10" fill="hold"/>
                                        <p:tgtEl>
                                          <p:spTgt spid="3">
                                            <p:txEl>
                                              <p:pRg st="3" end="3"/>
                                            </p:txEl>
                                          </p:spTgt>
                                        </p:tgtEl>
                                        <p:attrNameLst>
                                          <p:attrName>style.color</p:attrName>
                                        </p:attrNameLst>
                                      </p:cBhvr>
                                      <p:to>
                                        <a:srgbClr val="000000"/>
                                      </p:to>
                                    </p:animClr>
                                  </p:childTnLst>
                                </p:cTn>
                              </p:par>
                              <p:par>
                                <p:cTn id="33" presetID="3" presetClass="emph" presetSubtype="2" fill="hold" nodeType="withEffect">
                                  <p:stCondLst>
                                    <p:cond delay="0"/>
                                  </p:stCondLst>
                                  <p:childTnLst>
                                    <p:animClr clrSpc="rgb" dir="cw">
                                      <p:cBhvr override="childStyle">
                                        <p:cTn id="34" dur="10" fill="hold"/>
                                        <p:tgtEl>
                                          <p:spTgt spid="3">
                                            <p:txEl>
                                              <p:pRg st="4" end="4"/>
                                            </p:txEl>
                                          </p:spTgt>
                                        </p:tgtEl>
                                        <p:attrNameLst>
                                          <p:attrName>style.color</p:attrName>
                                        </p:attrNameLst>
                                      </p:cBhvr>
                                      <p:to>
                                        <a:srgbClr val="000000"/>
                                      </p:to>
                                    </p:animClr>
                                  </p:childTnLst>
                                </p:cTn>
                              </p:par>
                            </p:childTnLst>
                          </p:cTn>
                        </p:par>
                      </p:childTnLst>
                    </p:cTn>
                  </p:par>
                  <p:par>
                    <p:cTn id="35" fill="hold">
                      <p:stCondLst>
                        <p:cond delay="indefinite"/>
                      </p:stCondLst>
                      <p:childTnLst>
                        <p:par>
                          <p:cTn id="36" fill="hold">
                            <p:stCondLst>
                              <p:cond delay="0"/>
                            </p:stCondLst>
                            <p:childTnLst>
                              <p:par>
                                <p:cTn id="37" presetID="3" presetClass="emph" presetSubtype="2" fill="hold" nodeType="clickEffect">
                                  <p:stCondLst>
                                    <p:cond delay="0"/>
                                  </p:stCondLst>
                                  <p:childTnLst>
                                    <p:animClr clrSpc="rgb" dir="cw">
                                      <p:cBhvr override="childStyle">
                                        <p:cTn id="38" dur="10" fill="hold"/>
                                        <p:tgtEl>
                                          <p:spTgt spid="3">
                                            <p:txEl>
                                              <p:pRg st="9" end="9"/>
                                            </p:txEl>
                                          </p:spTgt>
                                        </p:tgtEl>
                                        <p:attrNameLst>
                                          <p:attrName>style.color</p:attrName>
                                        </p:attrNameLst>
                                      </p:cBhvr>
                                      <p:to>
                                        <a:srgbClr val="FF0000"/>
                                      </p:to>
                                    </p:animClr>
                                  </p:childTnLst>
                                </p:cTn>
                              </p:par>
                              <p:par>
                                <p:cTn id="39" presetID="3" presetClass="emph" presetSubtype="2" fill="hold" nodeType="withEffect">
                                  <p:stCondLst>
                                    <p:cond delay="0"/>
                                  </p:stCondLst>
                                  <p:childTnLst>
                                    <p:animClr clrSpc="rgb" dir="cw">
                                      <p:cBhvr override="childStyle">
                                        <p:cTn id="40" dur="10" fill="hold"/>
                                        <p:tgtEl>
                                          <p:spTgt spid="3">
                                            <p:txEl>
                                              <p:pRg st="6" end="6"/>
                                            </p:txEl>
                                          </p:spTgt>
                                        </p:tgtEl>
                                        <p:attrNameLst>
                                          <p:attrName>style.color</p:attrName>
                                        </p:attrNameLst>
                                      </p:cBhvr>
                                      <p:to>
                                        <a:srgbClr val="000000"/>
                                      </p:to>
                                    </p:animClr>
                                  </p:childTnLst>
                                </p:cTn>
                              </p:par>
                              <p:par>
                                <p:cTn id="41" presetID="3" presetClass="emph" presetSubtype="2" fill="hold" nodeType="withEffect">
                                  <p:stCondLst>
                                    <p:cond delay="0"/>
                                  </p:stCondLst>
                                  <p:childTnLst>
                                    <p:animClr clrSpc="rgb" dir="cw">
                                      <p:cBhvr override="childStyle">
                                        <p:cTn id="42" dur="10" fill="hold"/>
                                        <p:tgtEl>
                                          <p:spTgt spid="3">
                                            <p:txEl>
                                              <p:pRg st="7" end="7"/>
                                            </p:txEl>
                                          </p:spTgt>
                                        </p:tgtEl>
                                        <p:attrNameLst>
                                          <p:attrName>style.color</p:attrName>
                                        </p:attrNameLst>
                                      </p:cBhvr>
                                      <p:to>
                                        <a:srgbClr val="000000"/>
                                      </p:to>
                                    </p:animClr>
                                  </p:childTnLst>
                                </p:cTn>
                              </p:par>
                            </p:childTnLst>
                          </p:cTn>
                        </p:par>
                      </p:childTnLst>
                    </p:cTn>
                  </p:par>
                  <p:par>
                    <p:cTn id="43" fill="hold">
                      <p:stCondLst>
                        <p:cond delay="indefinite"/>
                      </p:stCondLst>
                      <p:childTnLst>
                        <p:par>
                          <p:cTn id="44" fill="hold">
                            <p:stCondLst>
                              <p:cond delay="0"/>
                            </p:stCondLst>
                            <p:childTnLst>
                              <p:par>
                                <p:cTn id="45" presetID="3" presetClass="emph" presetSubtype="2" fill="hold" nodeType="clickEffect">
                                  <p:stCondLst>
                                    <p:cond delay="0"/>
                                  </p:stCondLst>
                                  <p:childTnLst>
                                    <p:animClr clrSpc="rgb" dir="cw">
                                      <p:cBhvr override="childStyle">
                                        <p:cTn id="46" dur="10" fill="hold"/>
                                        <p:tgtEl>
                                          <p:spTgt spid="3">
                                            <p:txEl>
                                              <p:pRg st="10" end="10"/>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4687F84-486C-4B88-9252-F0DB05C347B9}"/>
              </a:ext>
            </a:extLst>
          </p:cNvPr>
          <p:cNvSpPr txBox="1"/>
          <p:nvPr/>
        </p:nvSpPr>
        <p:spPr>
          <a:xfrm>
            <a:off x="1121499" y="1905506"/>
            <a:ext cx="9949002"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9600" b="1" dirty="0">
                <a:latin typeface="メイリオ" panose="020B0604030504040204" pitchFamily="50" charset="-128"/>
                <a:ea typeface="メイリオ" panose="020B0604030504040204" pitchFamily="50" charset="-128"/>
              </a:rPr>
              <a:t>ご清聴ありがとう</a:t>
            </a:r>
          </a:p>
          <a:p>
            <a:pPr algn="ctr"/>
            <a:r>
              <a:rPr lang="ja-JP" altLang="en-US" sz="9600" b="1" dirty="0">
                <a:latin typeface="メイリオ" panose="020B0604030504040204" pitchFamily="50" charset="-128"/>
                <a:ea typeface="メイリオ" panose="020B0604030504040204" pitchFamily="50" charset="-128"/>
              </a:rPr>
              <a:t>ございました</a:t>
            </a:r>
          </a:p>
        </p:txBody>
      </p:sp>
    </p:spTree>
    <p:extLst>
      <p:ext uri="{BB962C8B-B14F-4D97-AF65-F5344CB8AC3E}">
        <p14:creationId xmlns:p14="http://schemas.microsoft.com/office/powerpoint/2010/main" val="57554854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294634D9D3C5624681AE9374D8C4F84E" ma:contentTypeVersion="9" ma:contentTypeDescription="新しいドキュメントを作成します。" ma:contentTypeScope="" ma:versionID="8e7041a5baf0a685accca6259eb2a3ed">
  <xsd:schema xmlns:xsd="http://www.w3.org/2001/XMLSchema" xmlns:xs="http://www.w3.org/2001/XMLSchema" xmlns:p="http://schemas.microsoft.com/office/2006/metadata/properties" xmlns:ns2="f24b21be-fbee-4620-95dc-e674cfd937ef" targetNamespace="http://schemas.microsoft.com/office/2006/metadata/properties" ma:root="true" ma:fieldsID="e400726dee2e39471e6db752bc278a90" ns2:_="">
    <xsd:import namespace="f24b21be-fbee-4620-95dc-e674cfd937e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b21be-fbee-4620-95dc-e674cfd937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ACC03B-13CF-42B1-AA1F-65C21318C914}">
  <ds:schemaRefs>
    <ds:schemaRef ds:uri="f24b21be-fbee-4620-95dc-e674cfd937e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B1EF683-B723-4629-BF02-E4EBA3C9219B}">
  <ds:schemaRefs>
    <ds:schemaRef ds:uri="http://purl.org/dc/terms/"/>
    <ds:schemaRef ds:uri="http://schemas.openxmlformats.org/package/2006/metadata/core-properties"/>
    <ds:schemaRef ds:uri="http://purl.org/dc/dcmitype/"/>
    <ds:schemaRef ds:uri="f24b21be-fbee-4620-95dc-e674cfd937ef"/>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133317AE-28E0-4830-B3FA-3EC58BAD69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273</TotalTime>
  <Words>761</Words>
  <Application>Microsoft Office PowerPoint</Application>
  <PresentationFormat>ワイド画面</PresentationFormat>
  <Paragraphs>96</Paragraphs>
  <Slides>10</Slides>
  <Notes>10</Notes>
  <HiddenSlides>0</HiddenSlides>
  <MMClips>0</MMClips>
  <ScaleCrop>false</ScaleCrop>
  <HeadingPairs>
    <vt:vector size="4" baseType="variant">
      <vt:variant>
        <vt:lpstr>テーマ</vt:lpstr>
      </vt:variant>
      <vt:variant>
        <vt:i4>1</vt:i4>
      </vt:variant>
      <vt:variant>
        <vt:lpstr>スライド タイトル</vt:lpstr>
      </vt:variant>
      <vt:variant>
        <vt:i4>10</vt:i4>
      </vt:variant>
    </vt:vector>
  </HeadingPairs>
  <TitlesOfParts>
    <vt:vector size="11" baseType="lpstr">
      <vt:lpstr>Office テーマ</vt:lpstr>
      <vt:lpstr>ケーキ屋さんの会計計算</vt:lpstr>
      <vt:lpstr>突然ですが･･･</vt:lpstr>
      <vt:lpstr>すごいと思う裏側では･･･？</vt:lpstr>
      <vt:lpstr>開発したWebアプリケーションは</vt:lpstr>
      <vt:lpstr>実装した機能</vt:lpstr>
      <vt:lpstr>システム構成</vt:lpstr>
      <vt:lpstr>デモンストレーション</vt:lpstr>
      <vt:lpstr>開発を通しての所感</vt:lpstr>
      <vt:lpstr>今後の展望</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ケーキ屋さんの会計</dc:title>
  <dc:creator>佐々木 優斗</dc:creator>
  <cp:lastModifiedBy>山口 文加</cp:lastModifiedBy>
  <cp:revision>469</cp:revision>
  <dcterms:created xsi:type="dcterms:W3CDTF">2020-07-22T15:02:21Z</dcterms:created>
  <dcterms:modified xsi:type="dcterms:W3CDTF">2020-08-20T01:51:14Z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0x010100294634D9D3C5624681AE9374D8C4F84E</vt:lpwstr>
  </property>
</Properties>
</file>